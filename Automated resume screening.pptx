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0B06D6-0199-417A-8020-0114EDCA00D2}" v="3" dt="2025-10-10T05:44:34.300"/>
    <p1510:client id="{B834E07C-3695-407A-8FF9-EF2414E05474}" v="8" dt="2025-10-10T05:45:19.79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 Singh Rana" userId="c2cb766e17540e1f" providerId="Windows Live" clId="Web-{220B06D6-0199-417A-8020-0114EDCA00D2}"/>
    <pc:docChg chg="modSld">
      <pc:chgData name="Abhishek Singh Rana" userId="c2cb766e17540e1f" providerId="Windows Live" clId="Web-{220B06D6-0199-417A-8020-0114EDCA00D2}" dt="2025-10-10T05:44:34.253" v="0" actId="20577"/>
      <pc:docMkLst>
        <pc:docMk/>
      </pc:docMkLst>
      <pc:sldChg chg="modSp">
        <pc:chgData name="Abhishek Singh Rana" userId="c2cb766e17540e1f" providerId="Windows Live" clId="Web-{220B06D6-0199-417A-8020-0114EDCA00D2}" dt="2025-10-10T05:44:34.253" v="0" actId="20577"/>
        <pc:sldMkLst>
          <pc:docMk/>
          <pc:sldMk cId="0" sldId="256"/>
        </pc:sldMkLst>
        <pc:spChg chg="mod">
          <ac:chgData name="Abhishek Singh Rana" userId="c2cb766e17540e1f" providerId="Windows Live" clId="Web-{220B06D6-0199-417A-8020-0114EDCA00D2}" dt="2025-10-10T05:44:34.253" v="0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  <pc:docChgLst>
    <pc:chgData name="Abhishek Singh Rana" userId="c2cb766e17540e1f" providerId="Windows Live" clId="Web-{B834E07C-3695-407A-8FF9-EF2414E05474}"/>
    <pc:docChg chg="modSld">
      <pc:chgData name="Abhishek Singh Rana" userId="c2cb766e17540e1f" providerId="Windows Live" clId="Web-{B834E07C-3695-407A-8FF9-EF2414E05474}" dt="2025-10-10T05:45:19.794" v="3" actId="20577"/>
      <pc:docMkLst>
        <pc:docMk/>
      </pc:docMkLst>
      <pc:sldChg chg="modSp">
        <pc:chgData name="Abhishek Singh Rana" userId="c2cb766e17540e1f" providerId="Windows Live" clId="Web-{B834E07C-3695-407A-8FF9-EF2414E05474}" dt="2025-10-10T05:45:19.794" v="3" actId="20577"/>
        <pc:sldMkLst>
          <pc:docMk/>
          <pc:sldMk cId="0" sldId="256"/>
        </pc:sldMkLst>
        <pc:spChg chg="mod">
          <ac:chgData name="Abhishek Singh Rana" userId="c2cb766e17540e1f" providerId="Windows Live" clId="Web-{B834E07C-3695-407A-8FF9-EF2414E05474}" dt="2025-10-10T05:45:19.794" v="3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7B39E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33415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7B39E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33415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7B39E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7B39E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72693"/>
            <a:ext cx="6244590" cy="5727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7B39E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42796" y="3152838"/>
            <a:ext cx="9106407" cy="18567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33415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68103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95415" y="914512"/>
            <a:ext cx="3646170" cy="1217193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 marR="5080">
              <a:lnSpc>
                <a:spcPct val="121400"/>
              </a:lnSpc>
              <a:spcBef>
                <a:spcPts val="95"/>
              </a:spcBef>
            </a:pPr>
            <a:r>
              <a:rPr lang="en-US"/>
              <a:t>Automated</a:t>
            </a:r>
            <a:r>
              <a:rPr spc="-10"/>
              <a:t> Resume </a:t>
            </a:r>
            <a:r>
              <a:t>Screening</a:t>
            </a:r>
            <a:r>
              <a:rPr spc="50"/>
              <a:t> </a:t>
            </a:r>
            <a:r>
              <a:rPr spc="-1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95415" y="3368230"/>
            <a:ext cx="4471670" cy="148526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54800"/>
              </a:lnSpc>
              <a:spcBef>
                <a:spcPts val="70"/>
              </a:spcBef>
            </a:pPr>
            <a:r>
              <a:rPr sz="1550">
                <a:solidFill>
                  <a:srgbClr val="334154"/>
                </a:solidFill>
                <a:latin typeface="Calibri"/>
                <a:cs typeface="Calibri"/>
              </a:rPr>
              <a:t>In</a:t>
            </a:r>
            <a:r>
              <a:rPr sz="1550" spc="105">
                <a:solidFill>
                  <a:srgbClr val="334154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334154"/>
                </a:solidFill>
                <a:latin typeface="Calibri"/>
                <a:cs typeface="Calibri"/>
              </a:rPr>
              <a:t>a</a:t>
            </a:r>
            <a:r>
              <a:rPr sz="1550" spc="110">
                <a:solidFill>
                  <a:srgbClr val="334154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334154"/>
                </a:solidFill>
                <a:latin typeface="Calibri"/>
                <a:cs typeface="Calibri"/>
              </a:rPr>
              <a:t>competitive</a:t>
            </a:r>
            <a:r>
              <a:rPr sz="1550" spc="75">
                <a:solidFill>
                  <a:srgbClr val="334154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334154"/>
                </a:solidFill>
                <a:latin typeface="Calibri"/>
                <a:cs typeface="Calibri"/>
              </a:rPr>
              <a:t>job</a:t>
            </a:r>
            <a:r>
              <a:rPr sz="1550" spc="110">
                <a:solidFill>
                  <a:srgbClr val="334154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334154"/>
                </a:solidFill>
                <a:latin typeface="Calibri"/>
                <a:cs typeface="Calibri"/>
              </a:rPr>
              <a:t>market,</a:t>
            </a:r>
            <a:r>
              <a:rPr sz="1550" spc="90">
                <a:solidFill>
                  <a:srgbClr val="334154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334154"/>
                </a:solidFill>
                <a:latin typeface="Calibri"/>
                <a:cs typeface="Calibri"/>
              </a:rPr>
              <a:t>our</a:t>
            </a:r>
            <a:r>
              <a:rPr sz="1550" spc="85">
                <a:solidFill>
                  <a:srgbClr val="334154"/>
                </a:solidFill>
                <a:latin typeface="Calibri"/>
                <a:cs typeface="Calibri"/>
              </a:rPr>
              <a:t> </a:t>
            </a:r>
            <a:r>
              <a:rPr sz="1550" spc="-10">
                <a:solidFill>
                  <a:srgbClr val="334154"/>
                </a:solidFill>
                <a:latin typeface="Calibri"/>
                <a:cs typeface="Calibri"/>
              </a:rPr>
              <a:t>AI-</a:t>
            </a:r>
            <a:r>
              <a:rPr sz="1550">
                <a:solidFill>
                  <a:srgbClr val="334154"/>
                </a:solidFill>
                <a:latin typeface="Calibri"/>
                <a:cs typeface="Calibri"/>
              </a:rPr>
              <a:t>powered</a:t>
            </a:r>
            <a:r>
              <a:rPr sz="1550" spc="105">
                <a:solidFill>
                  <a:srgbClr val="334154"/>
                </a:solidFill>
                <a:latin typeface="Calibri"/>
                <a:cs typeface="Calibri"/>
              </a:rPr>
              <a:t> </a:t>
            </a:r>
            <a:r>
              <a:rPr sz="1550" spc="-10">
                <a:solidFill>
                  <a:srgbClr val="334154"/>
                </a:solidFill>
                <a:latin typeface="Calibri"/>
                <a:cs typeface="Calibri"/>
              </a:rPr>
              <a:t>system </a:t>
            </a:r>
            <a:r>
              <a:rPr sz="1550">
                <a:solidFill>
                  <a:srgbClr val="334154"/>
                </a:solidFill>
                <a:latin typeface="Calibri"/>
                <a:cs typeface="Calibri"/>
              </a:rPr>
              <a:t>revolutionizes</a:t>
            </a:r>
            <a:r>
              <a:rPr sz="1550" spc="135">
                <a:solidFill>
                  <a:srgbClr val="334154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334154"/>
                </a:solidFill>
                <a:latin typeface="Calibri"/>
                <a:cs typeface="Calibri"/>
              </a:rPr>
              <a:t>resume</a:t>
            </a:r>
            <a:r>
              <a:rPr sz="1550" spc="215">
                <a:solidFill>
                  <a:srgbClr val="334154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334154"/>
                </a:solidFill>
                <a:latin typeface="Calibri"/>
                <a:cs typeface="Calibri"/>
              </a:rPr>
              <a:t>screening.</a:t>
            </a:r>
            <a:r>
              <a:rPr sz="1550" spc="125">
                <a:solidFill>
                  <a:srgbClr val="334154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334154"/>
                </a:solidFill>
                <a:latin typeface="Calibri"/>
                <a:cs typeface="Calibri"/>
              </a:rPr>
              <a:t>By</a:t>
            </a:r>
            <a:r>
              <a:rPr sz="1550" spc="204">
                <a:solidFill>
                  <a:srgbClr val="334154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334154"/>
                </a:solidFill>
                <a:latin typeface="Calibri"/>
                <a:cs typeface="Calibri"/>
              </a:rPr>
              <a:t>automating</a:t>
            </a:r>
            <a:r>
              <a:rPr sz="1550" spc="75">
                <a:solidFill>
                  <a:srgbClr val="334154"/>
                </a:solidFill>
                <a:latin typeface="Calibri"/>
                <a:cs typeface="Calibri"/>
              </a:rPr>
              <a:t> </a:t>
            </a:r>
            <a:r>
              <a:rPr sz="1550" spc="-25">
                <a:solidFill>
                  <a:srgbClr val="334154"/>
                </a:solidFill>
                <a:latin typeface="Calibri"/>
                <a:cs typeface="Calibri"/>
              </a:rPr>
              <a:t>the </a:t>
            </a:r>
            <a:r>
              <a:rPr sz="1550">
                <a:solidFill>
                  <a:srgbClr val="334154"/>
                </a:solidFill>
                <a:latin typeface="Calibri"/>
                <a:cs typeface="Calibri"/>
              </a:rPr>
              <a:t>evaluation</a:t>
            </a:r>
            <a:r>
              <a:rPr sz="1550" spc="135">
                <a:solidFill>
                  <a:srgbClr val="334154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334154"/>
                </a:solidFill>
                <a:latin typeface="Calibri"/>
                <a:cs typeface="Calibri"/>
              </a:rPr>
              <a:t>process,</a:t>
            </a:r>
            <a:r>
              <a:rPr sz="1550" spc="215">
                <a:solidFill>
                  <a:srgbClr val="334154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334154"/>
                </a:solidFill>
                <a:latin typeface="Calibri"/>
                <a:cs typeface="Calibri"/>
              </a:rPr>
              <a:t>we</a:t>
            </a:r>
            <a:r>
              <a:rPr sz="1550" spc="105">
                <a:solidFill>
                  <a:srgbClr val="334154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334154"/>
                </a:solidFill>
                <a:latin typeface="Calibri"/>
                <a:cs typeface="Calibri"/>
              </a:rPr>
              <a:t>enhance</a:t>
            </a:r>
            <a:r>
              <a:rPr sz="1550" spc="105">
                <a:solidFill>
                  <a:srgbClr val="334154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334154"/>
                </a:solidFill>
                <a:latin typeface="Calibri"/>
                <a:cs typeface="Calibri"/>
              </a:rPr>
              <a:t>efficiency</a:t>
            </a:r>
            <a:r>
              <a:rPr sz="1550" spc="100">
                <a:solidFill>
                  <a:srgbClr val="334154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334154"/>
                </a:solidFill>
                <a:latin typeface="Calibri"/>
                <a:cs typeface="Calibri"/>
              </a:rPr>
              <a:t>and</a:t>
            </a:r>
            <a:r>
              <a:rPr sz="1550" spc="145">
                <a:solidFill>
                  <a:srgbClr val="334154"/>
                </a:solidFill>
                <a:latin typeface="Calibri"/>
                <a:cs typeface="Calibri"/>
              </a:rPr>
              <a:t> </a:t>
            </a:r>
            <a:r>
              <a:rPr sz="1550" spc="-10">
                <a:solidFill>
                  <a:srgbClr val="334154"/>
                </a:solidFill>
                <a:latin typeface="Calibri"/>
                <a:cs typeface="Calibri"/>
              </a:rPr>
              <a:t>reduce </a:t>
            </a:r>
            <a:r>
              <a:rPr sz="1550">
                <a:solidFill>
                  <a:srgbClr val="334154"/>
                </a:solidFill>
                <a:latin typeface="Calibri"/>
                <a:cs typeface="Calibri"/>
              </a:rPr>
              <a:t>bias,</a:t>
            </a:r>
            <a:r>
              <a:rPr sz="1550" spc="114">
                <a:solidFill>
                  <a:srgbClr val="334154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334154"/>
                </a:solidFill>
                <a:latin typeface="Calibri"/>
                <a:cs typeface="Calibri"/>
              </a:rPr>
              <a:t>transforming</a:t>
            </a:r>
            <a:r>
              <a:rPr sz="1550" spc="150">
                <a:solidFill>
                  <a:srgbClr val="334154"/>
                </a:solidFill>
                <a:latin typeface="Calibri"/>
                <a:cs typeface="Calibri"/>
              </a:rPr>
              <a:t> </a:t>
            </a:r>
            <a:r>
              <a:rPr sz="1550" spc="-10">
                <a:solidFill>
                  <a:srgbClr val="334154"/>
                </a:solidFill>
                <a:latin typeface="Calibri"/>
                <a:cs typeface="Calibri"/>
              </a:rPr>
              <a:t>recruitment.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Challenges</a:t>
            </a:r>
            <a:r>
              <a:rPr spc="-30"/>
              <a:t> </a:t>
            </a:r>
            <a:r>
              <a:t>in</a:t>
            </a:r>
            <a:r>
              <a:rPr spc="-40"/>
              <a:t> </a:t>
            </a:r>
            <a:r>
              <a:t>Traditional</a:t>
            </a:r>
            <a:r>
              <a:rPr spc="-35"/>
              <a:t> </a:t>
            </a:r>
            <a:r>
              <a:rPr spc="-10"/>
              <a:t>Screening</a:t>
            </a:r>
          </a:p>
        </p:txBody>
      </p:sp>
      <p:sp>
        <p:nvSpPr>
          <p:cNvPr id="3" name="object 3"/>
          <p:cNvSpPr/>
          <p:nvPr/>
        </p:nvSpPr>
        <p:spPr>
          <a:xfrm>
            <a:off x="1019175" y="2124075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252349" y="0"/>
                </a:moveTo>
                <a:lnTo>
                  <a:pt x="206995" y="4067"/>
                </a:lnTo>
                <a:lnTo>
                  <a:pt x="164305" y="15793"/>
                </a:lnTo>
                <a:lnTo>
                  <a:pt x="124994" y="34464"/>
                </a:lnTo>
                <a:lnTo>
                  <a:pt x="89773" y="59365"/>
                </a:lnTo>
                <a:lnTo>
                  <a:pt x="59357" y="89784"/>
                </a:lnTo>
                <a:lnTo>
                  <a:pt x="34458" y="125005"/>
                </a:lnTo>
                <a:lnTo>
                  <a:pt x="15790" y="164316"/>
                </a:lnTo>
                <a:lnTo>
                  <a:pt x="4066" y="207001"/>
                </a:lnTo>
                <a:lnTo>
                  <a:pt x="0" y="252349"/>
                </a:lnTo>
                <a:lnTo>
                  <a:pt x="4066" y="297733"/>
                </a:lnTo>
                <a:lnTo>
                  <a:pt x="15790" y="340449"/>
                </a:lnTo>
                <a:lnTo>
                  <a:pt x="34458" y="379781"/>
                </a:lnTo>
                <a:lnTo>
                  <a:pt x="59357" y="415019"/>
                </a:lnTo>
                <a:lnTo>
                  <a:pt x="89773" y="445448"/>
                </a:lnTo>
                <a:lnTo>
                  <a:pt x="124994" y="470356"/>
                </a:lnTo>
                <a:lnTo>
                  <a:pt x="164305" y="489030"/>
                </a:lnTo>
                <a:lnTo>
                  <a:pt x="206995" y="500757"/>
                </a:lnTo>
                <a:lnTo>
                  <a:pt x="252349" y="504825"/>
                </a:lnTo>
                <a:lnTo>
                  <a:pt x="297733" y="500757"/>
                </a:lnTo>
                <a:lnTo>
                  <a:pt x="340449" y="489030"/>
                </a:lnTo>
                <a:lnTo>
                  <a:pt x="379781" y="470356"/>
                </a:lnTo>
                <a:lnTo>
                  <a:pt x="415019" y="445448"/>
                </a:lnTo>
                <a:lnTo>
                  <a:pt x="445448" y="415019"/>
                </a:lnTo>
                <a:lnTo>
                  <a:pt x="470356" y="379781"/>
                </a:lnTo>
                <a:lnTo>
                  <a:pt x="489030" y="340449"/>
                </a:lnTo>
                <a:lnTo>
                  <a:pt x="500757" y="297733"/>
                </a:lnTo>
                <a:lnTo>
                  <a:pt x="504825" y="252349"/>
                </a:lnTo>
                <a:lnTo>
                  <a:pt x="500757" y="207001"/>
                </a:lnTo>
                <a:lnTo>
                  <a:pt x="489030" y="164316"/>
                </a:lnTo>
                <a:lnTo>
                  <a:pt x="470356" y="125005"/>
                </a:lnTo>
                <a:lnTo>
                  <a:pt x="445448" y="89784"/>
                </a:lnTo>
                <a:lnTo>
                  <a:pt x="415019" y="59365"/>
                </a:lnTo>
                <a:lnTo>
                  <a:pt x="379781" y="34464"/>
                </a:lnTo>
                <a:lnTo>
                  <a:pt x="340449" y="15793"/>
                </a:lnTo>
                <a:lnTo>
                  <a:pt x="297733" y="4067"/>
                </a:lnTo>
                <a:lnTo>
                  <a:pt x="252349" y="0"/>
                </a:lnTo>
                <a:close/>
              </a:path>
            </a:pathLst>
          </a:custGeom>
          <a:solidFill>
            <a:srgbClr val="E88B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00150" y="2208847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4085" y="1653857"/>
            <a:ext cx="23749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0E172A"/>
                </a:solidFill>
                <a:latin typeface="Calibri"/>
                <a:cs typeface="Calibri"/>
              </a:rPr>
              <a:t>High</a:t>
            </a:r>
            <a:r>
              <a:rPr sz="1800" b="1" spc="1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0E172A"/>
                </a:solidFill>
                <a:latin typeface="Calibri"/>
                <a:cs typeface="Calibri"/>
              </a:rPr>
              <a:t>Volume</a:t>
            </a:r>
            <a:r>
              <a:rPr sz="1800" b="1" spc="-7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0E172A"/>
                </a:solidFill>
                <a:latin typeface="Calibri"/>
                <a:cs typeface="Calibri"/>
              </a:rPr>
              <a:t>of</a:t>
            </a:r>
            <a:r>
              <a:rPr sz="1800" b="1" spc="-3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0E172A"/>
                </a:solidFill>
                <a:latin typeface="Calibri"/>
                <a:cs typeface="Calibri"/>
              </a:rPr>
              <a:t>Resumes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4085" y="2286317"/>
            <a:ext cx="742632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Recruiters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often</a:t>
            </a:r>
            <a:r>
              <a:rPr sz="1400" spc="-4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face</a:t>
            </a:r>
            <a:r>
              <a:rPr sz="1400" spc="-6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thousands of</a:t>
            </a:r>
            <a:r>
              <a:rPr sz="1400" spc="-8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resumes,</a:t>
            </a:r>
            <a:r>
              <a:rPr sz="1400" spc="-2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making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manual</a:t>
            </a:r>
            <a:r>
              <a:rPr sz="1400" spc="-6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screening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time-consuming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inefficient.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19175" y="3324225"/>
            <a:ext cx="504825" cy="514350"/>
          </a:xfrm>
          <a:custGeom>
            <a:avLst/>
            <a:gdLst/>
            <a:ahLst/>
            <a:cxnLst/>
            <a:rect l="l" t="t" r="r" b="b"/>
            <a:pathLst>
              <a:path w="504825" h="514350">
                <a:moveTo>
                  <a:pt x="252349" y="0"/>
                </a:moveTo>
                <a:lnTo>
                  <a:pt x="206995" y="4145"/>
                </a:lnTo>
                <a:lnTo>
                  <a:pt x="164305" y="16095"/>
                </a:lnTo>
                <a:lnTo>
                  <a:pt x="124994" y="35122"/>
                </a:lnTo>
                <a:lnTo>
                  <a:pt x="89773" y="60500"/>
                </a:lnTo>
                <a:lnTo>
                  <a:pt x="59357" y="91500"/>
                </a:lnTo>
                <a:lnTo>
                  <a:pt x="34458" y="127395"/>
                </a:lnTo>
                <a:lnTo>
                  <a:pt x="15790" y="167457"/>
                </a:lnTo>
                <a:lnTo>
                  <a:pt x="4066" y="210960"/>
                </a:lnTo>
                <a:lnTo>
                  <a:pt x="0" y="257175"/>
                </a:lnTo>
                <a:lnTo>
                  <a:pt x="4066" y="303389"/>
                </a:lnTo>
                <a:lnTo>
                  <a:pt x="15790" y="346892"/>
                </a:lnTo>
                <a:lnTo>
                  <a:pt x="34458" y="386954"/>
                </a:lnTo>
                <a:lnTo>
                  <a:pt x="59357" y="422849"/>
                </a:lnTo>
                <a:lnTo>
                  <a:pt x="89773" y="453849"/>
                </a:lnTo>
                <a:lnTo>
                  <a:pt x="124994" y="479227"/>
                </a:lnTo>
                <a:lnTo>
                  <a:pt x="164305" y="498254"/>
                </a:lnTo>
                <a:lnTo>
                  <a:pt x="206995" y="510204"/>
                </a:lnTo>
                <a:lnTo>
                  <a:pt x="252349" y="514350"/>
                </a:lnTo>
                <a:lnTo>
                  <a:pt x="297733" y="510204"/>
                </a:lnTo>
                <a:lnTo>
                  <a:pt x="340449" y="498254"/>
                </a:lnTo>
                <a:lnTo>
                  <a:pt x="379781" y="479227"/>
                </a:lnTo>
                <a:lnTo>
                  <a:pt x="415019" y="453849"/>
                </a:lnTo>
                <a:lnTo>
                  <a:pt x="445448" y="422849"/>
                </a:lnTo>
                <a:lnTo>
                  <a:pt x="470356" y="386954"/>
                </a:lnTo>
                <a:lnTo>
                  <a:pt x="489030" y="346892"/>
                </a:lnTo>
                <a:lnTo>
                  <a:pt x="500757" y="303389"/>
                </a:lnTo>
                <a:lnTo>
                  <a:pt x="504825" y="257175"/>
                </a:lnTo>
                <a:lnTo>
                  <a:pt x="500757" y="210960"/>
                </a:lnTo>
                <a:lnTo>
                  <a:pt x="489030" y="167457"/>
                </a:lnTo>
                <a:lnTo>
                  <a:pt x="470356" y="127395"/>
                </a:lnTo>
                <a:lnTo>
                  <a:pt x="445448" y="91500"/>
                </a:lnTo>
                <a:lnTo>
                  <a:pt x="415019" y="60500"/>
                </a:lnTo>
                <a:lnTo>
                  <a:pt x="379781" y="35122"/>
                </a:lnTo>
                <a:lnTo>
                  <a:pt x="340449" y="16095"/>
                </a:lnTo>
                <a:lnTo>
                  <a:pt x="297733" y="4145"/>
                </a:lnTo>
                <a:lnTo>
                  <a:pt x="252349" y="0"/>
                </a:lnTo>
                <a:close/>
              </a:path>
            </a:pathLst>
          </a:custGeom>
          <a:solidFill>
            <a:srgbClr val="E88B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00150" y="3417252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4085" y="2861881"/>
            <a:ext cx="22148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>
                <a:solidFill>
                  <a:srgbClr val="0E172A"/>
                </a:solidFill>
                <a:latin typeface="Calibri"/>
                <a:cs typeface="Calibri"/>
              </a:rPr>
              <a:t>Inconsistent</a:t>
            </a:r>
            <a:r>
              <a:rPr sz="1800" b="1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0E172A"/>
                </a:solidFill>
                <a:latin typeface="Calibri"/>
                <a:cs typeface="Calibri"/>
              </a:rPr>
              <a:t>Evaluation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4085" y="3296729"/>
            <a:ext cx="7273290" cy="578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95"/>
              </a:spcBef>
            </a:pP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Traditional</a:t>
            </a:r>
            <a:r>
              <a:rPr sz="1400" spc="-5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methods</a:t>
            </a:r>
            <a:r>
              <a:rPr sz="1400" spc="2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can</a:t>
            </a:r>
            <a:r>
              <a:rPr sz="1400" spc="-2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lead</a:t>
            </a:r>
            <a:r>
              <a:rPr sz="1400" spc="-2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1400" spc="-2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subjective</a:t>
            </a:r>
            <a:r>
              <a:rPr sz="1400" spc="-6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judgments,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resulting</a:t>
            </a:r>
            <a:r>
              <a:rPr sz="1400" spc="-1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in</a:t>
            </a:r>
            <a:r>
              <a:rPr sz="1400" spc="-2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missed</a:t>
            </a:r>
            <a:r>
              <a:rPr sz="1400" spc="-2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opportunities</a:t>
            </a:r>
            <a:r>
              <a:rPr sz="1400" spc="-5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for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qualified candidates.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19175" y="4533900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252349" y="0"/>
                </a:moveTo>
                <a:lnTo>
                  <a:pt x="206995" y="4067"/>
                </a:lnTo>
                <a:lnTo>
                  <a:pt x="164305" y="15793"/>
                </a:lnTo>
                <a:lnTo>
                  <a:pt x="124994" y="34464"/>
                </a:lnTo>
                <a:lnTo>
                  <a:pt x="89773" y="59365"/>
                </a:lnTo>
                <a:lnTo>
                  <a:pt x="59357" y="89784"/>
                </a:lnTo>
                <a:lnTo>
                  <a:pt x="34458" y="125005"/>
                </a:lnTo>
                <a:lnTo>
                  <a:pt x="15790" y="164316"/>
                </a:lnTo>
                <a:lnTo>
                  <a:pt x="4066" y="207001"/>
                </a:lnTo>
                <a:lnTo>
                  <a:pt x="0" y="252349"/>
                </a:lnTo>
                <a:lnTo>
                  <a:pt x="4066" y="297733"/>
                </a:lnTo>
                <a:lnTo>
                  <a:pt x="15790" y="340449"/>
                </a:lnTo>
                <a:lnTo>
                  <a:pt x="34458" y="379781"/>
                </a:lnTo>
                <a:lnTo>
                  <a:pt x="59357" y="415019"/>
                </a:lnTo>
                <a:lnTo>
                  <a:pt x="89773" y="445448"/>
                </a:lnTo>
                <a:lnTo>
                  <a:pt x="124994" y="470356"/>
                </a:lnTo>
                <a:lnTo>
                  <a:pt x="164305" y="489030"/>
                </a:lnTo>
                <a:lnTo>
                  <a:pt x="206995" y="500757"/>
                </a:lnTo>
                <a:lnTo>
                  <a:pt x="252349" y="504825"/>
                </a:lnTo>
                <a:lnTo>
                  <a:pt x="297733" y="500757"/>
                </a:lnTo>
                <a:lnTo>
                  <a:pt x="340449" y="489030"/>
                </a:lnTo>
                <a:lnTo>
                  <a:pt x="379781" y="470356"/>
                </a:lnTo>
                <a:lnTo>
                  <a:pt x="415019" y="445448"/>
                </a:lnTo>
                <a:lnTo>
                  <a:pt x="445448" y="415019"/>
                </a:lnTo>
                <a:lnTo>
                  <a:pt x="470356" y="379781"/>
                </a:lnTo>
                <a:lnTo>
                  <a:pt x="489030" y="340449"/>
                </a:lnTo>
                <a:lnTo>
                  <a:pt x="500757" y="297733"/>
                </a:lnTo>
                <a:lnTo>
                  <a:pt x="504825" y="252349"/>
                </a:lnTo>
                <a:lnTo>
                  <a:pt x="500757" y="207001"/>
                </a:lnTo>
                <a:lnTo>
                  <a:pt x="489030" y="164316"/>
                </a:lnTo>
                <a:lnTo>
                  <a:pt x="470356" y="125005"/>
                </a:lnTo>
                <a:lnTo>
                  <a:pt x="445448" y="89784"/>
                </a:lnTo>
                <a:lnTo>
                  <a:pt x="415019" y="59365"/>
                </a:lnTo>
                <a:lnTo>
                  <a:pt x="379781" y="34464"/>
                </a:lnTo>
                <a:lnTo>
                  <a:pt x="340449" y="15793"/>
                </a:lnTo>
                <a:lnTo>
                  <a:pt x="297733" y="4067"/>
                </a:lnTo>
                <a:lnTo>
                  <a:pt x="252349" y="0"/>
                </a:lnTo>
                <a:close/>
              </a:path>
            </a:pathLst>
          </a:custGeom>
          <a:solidFill>
            <a:srgbClr val="E88B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00150" y="4625403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04085" y="4070286"/>
            <a:ext cx="165036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0E172A"/>
                </a:solidFill>
                <a:latin typeface="Calibri"/>
                <a:cs typeface="Calibri"/>
              </a:rPr>
              <a:t>Unconscious</a:t>
            </a:r>
            <a:r>
              <a:rPr sz="1800" b="1" spc="-10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800" b="1" spc="-20">
                <a:solidFill>
                  <a:srgbClr val="0E172A"/>
                </a:solidFill>
                <a:latin typeface="Calibri"/>
                <a:cs typeface="Calibri"/>
              </a:rPr>
              <a:t>Bias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04085" y="4703191"/>
            <a:ext cx="786384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Human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biases</a:t>
            </a:r>
            <a:r>
              <a:rPr sz="1400" spc="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can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inadvertently</a:t>
            </a:r>
            <a:r>
              <a:rPr sz="1400" spc="-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influence</a:t>
            </a:r>
            <a:r>
              <a:rPr sz="1400" spc="-6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hiring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decisions,</a:t>
            </a:r>
            <a:r>
              <a:rPr sz="1400" spc="-1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affecting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diversity</a:t>
            </a:r>
            <a:r>
              <a:rPr sz="1400" spc="-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inclusion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in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the</a:t>
            </a:r>
            <a:r>
              <a:rPr sz="1400" spc="-6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workplace.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19175" y="5743575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252349" y="0"/>
                </a:moveTo>
                <a:lnTo>
                  <a:pt x="206995" y="4066"/>
                </a:lnTo>
                <a:lnTo>
                  <a:pt x="164305" y="15791"/>
                </a:lnTo>
                <a:lnTo>
                  <a:pt x="124994" y="34460"/>
                </a:lnTo>
                <a:lnTo>
                  <a:pt x="89773" y="59362"/>
                </a:lnTo>
                <a:lnTo>
                  <a:pt x="59357" y="89784"/>
                </a:lnTo>
                <a:lnTo>
                  <a:pt x="34458" y="125013"/>
                </a:lnTo>
                <a:lnTo>
                  <a:pt x="15790" y="164335"/>
                </a:lnTo>
                <a:lnTo>
                  <a:pt x="4066" y="207039"/>
                </a:lnTo>
                <a:lnTo>
                  <a:pt x="0" y="252412"/>
                </a:lnTo>
                <a:lnTo>
                  <a:pt x="4066" y="297785"/>
                </a:lnTo>
                <a:lnTo>
                  <a:pt x="15790" y="340489"/>
                </a:lnTo>
                <a:lnTo>
                  <a:pt x="34458" y="379811"/>
                </a:lnTo>
                <a:lnTo>
                  <a:pt x="59357" y="415040"/>
                </a:lnTo>
                <a:lnTo>
                  <a:pt x="89773" y="445462"/>
                </a:lnTo>
                <a:lnTo>
                  <a:pt x="124994" y="470364"/>
                </a:lnTo>
                <a:lnTo>
                  <a:pt x="164305" y="489033"/>
                </a:lnTo>
                <a:lnTo>
                  <a:pt x="206995" y="500758"/>
                </a:lnTo>
                <a:lnTo>
                  <a:pt x="252349" y="504825"/>
                </a:lnTo>
                <a:lnTo>
                  <a:pt x="297733" y="500758"/>
                </a:lnTo>
                <a:lnTo>
                  <a:pt x="340449" y="489033"/>
                </a:lnTo>
                <a:lnTo>
                  <a:pt x="379781" y="470364"/>
                </a:lnTo>
                <a:lnTo>
                  <a:pt x="415019" y="445462"/>
                </a:lnTo>
                <a:lnTo>
                  <a:pt x="445448" y="415040"/>
                </a:lnTo>
                <a:lnTo>
                  <a:pt x="470356" y="379811"/>
                </a:lnTo>
                <a:lnTo>
                  <a:pt x="489030" y="340489"/>
                </a:lnTo>
                <a:lnTo>
                  <a:pt x="500757" y="297785"/>
                </a:lnTo>
                <a:lnTo>
                  <a:pt x="504825" y="252412"/>
                </a:lnTo>
                <a:lnTo>
                  <a:pt x="500757" y="207039"/>
                </a:lnTo>
                <a:lnTo>
                  <a:pt x="489030" y="164335"/>
                </a:lnTo>
                <a:lnTo>
                  <a:pt x="470356" y="125013"/>
                </a:lnTo>
                <a:lnTo>
                  <a:pt x="445448" y="89784"/>
                </a:lnTo>
                <a:lnTo>
                  <a:pt x="415019" y="59362"/>
                </a:lnTo>
                <a:lnTo>
                  <a:pt x="379781" y="34460"/>
                </a:lnTo>
                <a:lnTo>
                  <a:pt x="340449" y="15791"/>
                </a:lnTo>
                <a:lnTo>
                  <a:pt x="297733" y="4066"/>
                </a:lnTo>
                <a:lnTo>
                  <a:pt x="252349" y="0"/>
                </a:lnTo>
                <a:close/>
              </a:path>
            </a:pathLst>
          </a:custGeom>
          <a:solidFill>
            <a:srgbClr val="E88B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00150" y="5833427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04085" y="5278437"/>
            <a:ext cx="18688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0E172A"/>
                </a:solidFill>
                <a:latin typeface="Calibri"/>
                <a:cs typeface="Calibri"/>
              </a:rPr>
              <a:t>Slow</a:t>
            </a:r>
            <a:r>
              <a:rPr sz="1800" b="1" spc="-5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0E172A"/>
                </a:solidFill>
                <a:latin typeface="Calibri"/>
                <a:cs typeface="Calibri"/>
              </a:rPr>
              <a:t>Hiring</a:t>
            </a:r>
            <a:r>
              <a:rPr sz="1800" b="1" spc="-2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0E172A"/>
                </a:solidFill>
                <a:latin typeface="Calibri"/>
                <a:cs typeface="Calibri"/>
              </a:rPr>
              <a:t>Process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04085" y="5910897"/>
            <a:ext cx="700595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Lengthy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screening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times</a:t>
            </a:r>
            <a:r>
              <a:rPr sz="1400" spc="-6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can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delay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hiring,</a:t>
            </a:r>
            <a:r>
              <a:rPr sz="1400" spc="-1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causing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organizations</a:t>
            </a:r>
            <a:r>
              <a:rPr sz="1400" spc="-6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lose</a:t>
            </a:r>
            <a:r>
              <a:rPr sz="1400" spc="-7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top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talent</a:t>
            </a:r>
            <a:r>
              <a:rPr sz="1400" spc="-6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competitors.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Core</a:t>
            </a:r>
            <a:r>
              <a:rPr spc="25"/>
              <a:t> </a:t>
            </a:r>
            <a:r>
              <a:t>Approach</a:t>
            </a:r>
            <a:r>
              <a:rPr spc="60"/>
              <a:t> </a:t>
            </a:r>
            <a:r>
              <a:t>&amp;</a:t>
            </a:r>
            <a:r>
              <a:rPr spc="20"/>
              <a:t> </a:t>
            </a:r>
            <a:r>
              <a:rPr spc="-10"/>
              <a:t>Innovation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4400" y="-1"/>
            <a:ext cx="3609975" cy="68103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19175" y="1647825"/>
            <a:ext cx="3505200" cy="21336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42875" rIns="0" bIns="0" rtlCol="0">
            <a:spAutoFit/>
          </a:bodyPr>
          <a:lstStyle/>
          <a:p>
            <a:pPr marL="252729">
              <a:lnSpc>
                <a:spcPct val="100000"/>
              </a:lnSpc>
              <a:spcBef>
                <a:spcPts val="1125"/>
              </a:spcBef>
            </a:pPr>
            <a:r>
              <a:rPr sz="1700" b="1" spc="-10">
                <a:solidFill>
                  <a:srgbClr val="0E172A"/>
                </a:solidFill>
                <a:latin typeface="Calibri"/>
                <a:cs typeface="Calibri"/>
              </a:rPr>
              <a:t>Automated</a:t>
            </a:r>
            <a:r>
              <a:rPr sz="1700" b="1" spc="-4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700" b="1">
                <a:solidFill>
                  <a:srgbClr val="0E172A"/>
                </a:solidFill>
                <a:latin typeface="Calibri"/>
                <a:cs typeface="Calibri"/>
              </a:rPr>
              <a:t>Resume</a:t>
            </a:r>
            <a:r>
              <a:rPr sz="1700" b="1" spc="-6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700" b="1" spc="-10">
                <a:solidFill>
                  <a:srgbClr val="0E172A"/>
                </a:solidFill>
                <a:latin typeface="Calibri"/>
                <a:cs typeface="Calibri"/>
              </a:rPr>
              <a:t>Parsing</a:t>
            </a:r>
            <a:endParaRPr sz="1700">
              <a:latin typeface="Calibri"/>
              <a:cs typeface="Calibri"/>
            </a:endParaRPr>
          </a:p>
          <a:p>
            <a:pPr marL="252729" marR="430530">
              <a:lnSpc>
                <a:spcPct val="129600"/>
              </a:lnSpc>
              <a:spcBef>
                <a:spcPts val="1265"/>
              </a:spcBef>
            </a:pP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Extracts</a:t>
            </a:r>
            <a:r>
              <a:rPr sz="1400" spc="-1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essential</a:t>
            </a:r>
            <a:r>
              <a:rPr sz="1400" spc="-1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information</a:t>
            </a:r>
            <a:r>
              <a:rPr sz="1400" spc="-5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like</a:t>
            </a:r>
            <a:r>
              <a:rPr sz="1400" spc="-1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skills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1400" spc="-4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experience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from</a:t>
            </a:r>
            <a:r>
              <a:rPr sz="1400" spc="-5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various</a:t>
            </a:r>
            <a:r>
              <a:rPr sz="1400" spc="-7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resume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formats,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streamlining</a:t>
            </a:r>
            <a:r>
              <a:rPr sz="1400" spc="-4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the</a:t>
            </a:r>
            <a:r>
              <a:rPr sz="1400" spc="-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initial screening.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24400" y="1647825"/>
            <a:ext cx="3505200" cy="21336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42875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1125"/>
              </a:spcBef>
            </a:pPr>
            <a:r>
              <a:rPr sz="1700" b="1" spc="-10">
                <a:solidFill>
                  <a:srgbClr val="0E172A"/>
                </a:solidFill>
                <a:latin typeface="Calibri"/>
                <a:cs typeface="Calibri"/>
              </a:rPr>
              <a:t>NLP-</a:t>
            </a:r>
            <a:r>
              <a:rPr sz="1700" b="1">
                <a:solidFill>
                  <a:srgbClr val="0E172A"/>
                </a:solidFill>
                <a:latin typeface="Calibri"/>
                <a:cs typeface="Calibri"/>
              </a:rPr>
              <a:t>Based</a:t>
            </a:r>
            <a:r>
              <a:rPr sz="1700" b="1" spc="2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700" b="1" spc="-10">
                <a:solidFill>
                  <a:srgbClr val="0E172A"/>
                </a:solidFill>
                <a:latin typeface="Calibri"/>
                <a:cs typeface="Calibri"/>
              </a:rPr>
              <a:t>Analysis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700">
              <a:latin typeface="Calibri"/>
              <a:cs typeface="Calibri"/>
            </a:endParaRPr>
          </a:p>
          <a:p>
            <a:pPr marL="258445" marR="266700">
              <a:lnSpc>
                <a:spcPct val="129700"/>
              </a:lnSpc>
            </a:pP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Utilizes</a:t>
            </a:r>
            <a:r>
              <a:rPr sz="1400" spc="-7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advanced</a:t>
            </a:r>
            <a:r>
              <a:rPr sz="1400" spc="-7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models</a:t>
            </a:r>
            <a:r>
              <a:rPr sz="1400" spc="-2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like</a:t>
            </a:r>
            <a:r>
              <a:rPr sz="1400" spc="-2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BERT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25">
                <a:solidFill>
                  <a:srgbClr val="465469"/>
                </a:solidFill>
                <a:latin typeface="Calibri"/>
                <a:cs typeface="Calibri"/>
              </a:rPr>
              <a:t>for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deep</a:t>
            </a:r>
            <a:r>
              <a:rPr sz="1400" spc="-2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contextual</a:t>
            </a:r>
            <a:r>
              <a:rPr sz="1400" spc="2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understanding,</a:t>
            </a:r>
            <a:r>
              <a:rPr sz="1400" spc="-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ensuring accurate</a:t>
            </a:r>
            <a:r>
              <a:rPr sz="1400" spc="-6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matching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with</a:t>
            </a:r>
            <a:r>
              <a:rPr sz="1400" spc="-2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job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descriptions.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9175" y="4295775"/>
            <a:ext cx="7210425" cy="15240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40335" rIns="0" bIns="0" rtlCol="0">
            <a:spAutoFit/>
          </a:bodyPr>
          <a:lstStyle/>
          <a:p>
            <a:pPr marL="252729">
              <a:lnSpc>
                <a:spcPct val="100000"/>
              </a:lnSpc>
              <a:spcBef>
                <a:spcPts val="1105"/>
              </a:spcBef>
            </a:pPr>
            <a:r>
              <a:rPr sz="1700" b="1" spc="-10">
                <a:solidFill>
                  <a:srgbClr val="0E172A"/>
                </a:solidFill>
                <a:latin typeface="Calibri"/>
                <a:cs typeface="Calibri"/>
              </a:rPr>
              <a:t>Intelligent</a:t>
            </a:r>
            <a:r>
              <a:rPr sz="1700" b="1" spc="-2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700" b="1">
                <a:solidFill>
                  <a:srgbClr val="0E172A"/>
                </a:solidFill>
                <a:latin typeface="Calibri"/>
                <a:cs typeface="Calibri"/>
              </a:rPr>
              <a:t>Resume</a:t>
            </a:r>
            <a:r>
              <a:rPr sz="1700" b="1" spc="-6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700" b="1" spc="-10">
                <a:solidFill>
                  <a:srgbClr val="0E172A"/>
                </a:solidFill>
                <a:latin typeface="Calibri"/>
                <a:cs typeface="Calibri"/>
              </a:rPr>
              <a:t>Ranking</a:t>
            </a:r>
            <a:endParaRPr sz="1700">
              <a:latin typeface="Calibri"/>
              <a:cs typeface="Calibri"/>
            </a:endParaRPr>
          </a:p>
          <a:p>
            <a:pPr marL="252729">
              <a:lnSpc>
                <a:spcPct val="100000"/>
              </a:lnSpc>
              <a:spcBef>
                <a:spcPts val="1545"/>
              </a:spcBef>
            </a:pP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Generates</a:t>
            </a:r>
            <a:r>
              <a:rPr sz="1400" spc="-6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sz="1400" spc="-4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job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match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score</a:t>
            </a:r>
            <a:r>
              <a:rPr sz="1400" spc="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for</a:t>
            </a:r>
            <a:r>
              <a:rPr sz="1400" spc="-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candidates,</a:t>
            </a:r>
            <a:r>
              <a:rPr sz="1400" spc="-1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ranking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them</a:t>
            </a:r>
            <a:r>
              <a:rPr sz="1400" spc="-4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based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on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relevance</a:t>
            </a:r>
            <a:r>
              <a:rPr sz="1400" spc="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25">
                <a:solidFill>
                  <a:srgbClr val="465469"/>
                </a:solidFill>
                <a:latin typeface="Calibri"/>
                <a:cs typeface="Calibri"/>
              </a:rPr>
              <a:t>the</a:t>
            </a:r>
            <a:endParaRPr sz="1400">
              <a:latin typeface="Calibri"/>
              <a:cs typeface="Calibri"/>
            </a:endParaRPr>
          </a:p>
          <a:p>
            <a:pPr marL="252729">
              <a:lnSpc>
                <a:spcPct val="100000"/>
              </a:lnSpc>
              <a:spcBef>
                <a:spcPts val="500"/>
              </a:spcBef>
            </a:pP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position.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System</a:t>
            </a:r>
            <a:r>
              <a:rPr spc="-85"/>
              <a:t> </a:t>
            </a:r>
            <a:r>
              <a:rPr spc="-10"/>
              <a:t>Requirements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4400" y="-1"/>
            <a:ext cx="3609975" cy="6810375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09624" y="1682750"/>
          <a:ext cx="7213600" cy="3829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Developer</a:t>
                      </a:r>
                      <a:r>
                        <a:rPr sz="1550" spc="1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2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Side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E172A"/>
                      </a:solidFill>
                      <a:prstDash val="solid"/>
                    </a:lnL>
                    <a:lnR w="12700">
                      <a:solidFill>
                        <a:srgbClr val="0E172A"/>
                      </a:solidFill>
                      <a:prstDash val="solid"/>
                    </a:lnR>
                    <a:lnT w="12700">
                      <a:solidFill>
                        <a:srgbClr val="0E172A"/>
                      </a:solidFill>
                      <a:prstDash val="solid"/>
                    </a:lnT>
                    <a:lnB w="12700">
                      <a:solidFill>
                        <a:srgbClr val="0E17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94615" marR="198755">
                        <a:lnSpc>
                          <a:spcPct val="103000"/>
                        </a:lnSpc>
                      </a:pP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Laptop/Desktop</a:t>
                      </a:r>
                      <a:r>
                        <a:rPr sz="1550" spc="125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sz="1550" spc="125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8GB</a:t>
                      </a:r>
                      <a:r>
                        <a:rPr sz="1550" spc="9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RAM,</a:t>
                      </a:r>
                      <a:r>
                        <a:rPr sz="1550" spc="105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1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Python, </a:t>
                      </a: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Django,</a:t>
                      </a:r>
                      <a:r>
                        <a:rPr sz="1550" spc="17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React,</a:t>
                      </a:r>
                      <a:r>
                        <a:rPr sz="1550" spc="8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Database</a:t>
                      </a:r>
                      <a:r>
                        <a:rPr sz="1550" spc="65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tools</a:t>
                      </a:r>
                      <a:r>
                        <a:rPr sz="1550" spc="85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1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(e.g., </a:t>
                      </a: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MySQL</a:t>
                      </a:r>
                      <a:r>
                        <a:rPr sz="1550" spc="13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1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Workbench)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E172A"/>
                      </a:solidFill>
                      <a:prstDash val="solid"/>
                    </a:lnL>
                    <a:lnR w="12700">
                      <a:solidFill>
                        <a:srgbClr val="0E172A"/>
                      </a:solidFill>
                      <a:prstDash val="solid"/>
                    </a:lnR>
                    <a:lnT w="12700">
                      <a:solidFill>
                        <a:srgbClr val="0E172A"/>
                      </a:solidFill>
                      <a:prstDash val="solid"/>
                    </a:lnT>
                    <a:lnB w="12700">
                      <a:solidFill>
                        <a:srgbClr val="0E172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Client</a:t>
                      </a:r>
                      <a:r>
                        <a:rPr sz="1550" spc="10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2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Side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E172A"/>
                      </a:solidFill>
                      <a:prstDash val="solid"/>
                    </a:lnL>
                    <a:lnR w="12700">
                      <a:solidFill>
                        <a:srgbClr val="0E172A"/>
                      </a:solidFill>
                      <a:prstDash val="solid"/>
                    </a:lnR>
                    <a:lnT w="12700">
                      <a:solidFill>
                        <a:srgbClr val="0E172A"/>
                      </a:solidFill>
                      <a:prstDash val="solid"/>
                    </a:lnT>
                    <a:lnB w="12700">
                      <a:solidFill>
                        <a:srgbClr val="0E172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94615" marR="235585">
                        <a:lnSpc>
                          <a:spcPct val="103000"/>
                        </a:lnSpc>
                      </a:pP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Any</a:t>
                      </a:r>
                      <a:r>
                        <a:rPr sz="1550" spc="114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device</a:t>
                      </a:r>
                      <a:r>
                        <a:rPr sz="1550" spc="4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sz="1550" spc="75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550" spc="75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modern</a:t>
                      </a:r>
                      <a:r>
                        <a:rPr sz="1550" spc="75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web</a:t>
                      </a:r>
                      <a:r>
                        <a:rPr sz="1550" spc="75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1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browser </a:t>
                      </a: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550" spc="75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4GB</a:t>
                      </a:r>
                      <a:r>
                        <a:rPr sz="1550" spc="45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RAM,</a:t>
                      </a:r>
                      <a:r>
                        <a:rPr sz="1550" spc="1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stable</a:t>
                      </a:r>
                      <a:r>
                        <a:rPr sz="1550" spc="4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1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internet </a:t>
                      </a: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connection,</a:t>
                      </a:r>
                      <a:r>
                        <a:rPr sz="1550" spc="11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latest</a:t>
                      </a:r>
                      <a:r>
                        <a:rPr sz="1550" spc="13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browser</a:t>
                      </a:r>
                      <a:r>
                        <a:rPr sz="1550" spc="10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10">
                          <a:solidFill>
                            <a:srgbClr val="334154"/>
                          </a:solidFill>
                          <a:latin typeface="Calibri"/>
                          <a:cs typeface="Calibri"/>
                        </a:rPr>
                        <a:t>versions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E172A"/>
                      </a:solidFill>
                      <a:prstDash val="solid"/>
                    </a:lnL>
                    <a:lnR w="12700">
                      <a:solidFill>
                        <a:srgbClr val="0E172A"/>
                      </a:solidFill>
                      <a:prstDash val="solid"/>
                    </a:lnR>
                    <a:lnT w="12700">
                      <a:solidFill>
                        <a:srgbClr val="0E172A"/>
                      </a:solidFill>
                      <a:prstDash val="solid"/>
                    </a:lnT>
                    <a:lnB w="12700">
                      <a:solidFill>
                        <a:srgbClr val="0E172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"/>
            <a:ext cx="5917565" cy="398145"/>
          </a:xfrm>
          <a:custGeom>
            <a:avLst/>
            <a:gdLst/>
            <a:ahLst/>
            <a:cxnLst/>
            <a:rect l="l" t="t" r="r" b="b"/>
            <a:pathLst>
              <a:path w="5917565" h="398145">
                <a:moveTo>
                  <a:pt x="2958579" y="0"/>
                </a:moveTo>
                <a:lnTo>
                  <a:pt x="0" y="0"/>
                </a:lnTo>
                <a:lnTo>
                  <a:pt x="0" y="397878"/>
                </a:lnTo>
                <a:lnTo>
                  <a:pt x="2958579" y="397878"/>
                </a:lnTo>
                <a:lnTo>
                  <a:pt x="2958579" y="0"/>
                </a:lnTo>
                <a:close/>
              </a:path>
              <a:path w="5917565" h="398145">
                <a:moveTo>
                  <a:pt x="5917184" y="0"/>
                </a:moveTo>
                <a:lnTo>
                  <a:pt x="2958592" y="0"/>
                </a:lnTo>
                <a:lnTo>
                  <a:pt x="2958592" y="397878"/>
                </a:lnTo>
                <a:lnTo>
                  <a:pt x="5917184" y="397878"/>
                </a:lnTo>
                <a:lnTo>
                  <a:pt x="5917184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0" y="-2381"/>
          <a:ext cx="5914390" cy="3468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8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970">
                <a:tc>
                  <a:txBody>
                    <a:bodyPr/>
                    <a:lstStyle/>
                    <a:p>
                      <a:pPr marL="4889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Frontend</a:t>
                      </a:r>
                      <a:r>
                        <a:rPr sz="1800" b="1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Technology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41069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51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spc="-10">
                          <a:latin typeface="Calibri"/>
                          <a:cs typeface="Calibri"/>
                        </a:rPr>
                        <a:t>React.js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spc="-10">
                          <a:latin typeface="Calibri"/>
                          <a:cs typeface="Calibri"/>
                        </a:rPr>
                        <a:t>Interactive</a:t>
                      </a:r>
                      <a:r>
                        <a:rPr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UI</a:t>
                      </a:r>
                      <a:r>
                        <a:rPr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framework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51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10">
                          <a:latin typeface="Calibri"/>
                          <a:cs typeface="Calibri"/>
                        </a:rPr>
                        <a:t>Tailwind</a:t>
                      </a:r>
                      <a:r>
                        <a:rPr sz="18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>
                          <a:latin typeface="Calibri"/>
                          <a:cs typeface="Calibri"/>
                        </a:rPr>
                        <a:t>CSS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Responsive</a:t>
                      </a:r>
                      <a:r>
                        <a:rPr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modern</a:t>
                      </a:r>
                      <a:r>
                        <a:rPr sz="18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styling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51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>
                          <a:latin typeface="Calibri"/>
                          <a:cs typeface="Calibri"/>
                        </a:rPr>
                        <a:t>Vite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>
                          <a:latin typeface="Calibri"/>
                          <a:cs typeface="Calibri"/>
                        </a:rPr>
                        <a:t>Fast</a:t>
                      </a:r>
                      <a:r>
                        <a:rPr sz="18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build</a:t>
                      </a:r>
                      <a:r>
                        <a:rPr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>
                          <a:latin typeface="Calibri"/>
                          <a:cs typeface="Calibri"/>
                        </a:rPr>
                        <a:t>tool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51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React</a:t>
                      </a:r>
                      <a:r>
                        <a:rPr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Router</a:t>
                      </a:r>
                      <a:r>
                        <a:rPr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>
                          <a:latin typeface="Calibri"/>
                          <a:cs typeface="Calibri"/>
                        </a:rPr>
                        <a:t>DOM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635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Handles</a:t>
                      </a:r>
                      <a:r>
                        <a:rPr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navigation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jsPDF</a:t>
                      </a:r>
                      <a:r>
                        <a:rPr sz="18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 pdfjs-</a:t>
                      </a:r>
                      <a:r>
                        <a:rPr sz="1800" spc="-20">
                          <a:latin typeface="Calibri"/>
                          <a:cs typeface="Calibri"/>
                        </a:rPr>
                        <a:t>dist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34035">
                        <a:lnSpc>
                          <a:spcPct val="100800"/>
                        </a:lnSpc>
                        <a:spcBef>
                          <a:spcPts val="215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Resume</a:t>
                      </a:r>
                      <a:r>
                        <a:rPr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viewing</a:t>
                      </a:r>
                      <a:r>
                        <a:rPr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>
                          <a:latin typeface="Calibri"/>
                          <a:cs typeface="Calibri"/>
                        </a:rPr>
                        <a:t>PDF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generation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51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>
                          <a:latin typeface="Calibri"/>
                          <a:cs typeface="Calibri"/>
                        </a:rPr>
                        <a:t>Firebase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Hosting</a:t>
                      </a:r>
                      <a:r>
                        <a:rPr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authentication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51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>
                          <a:latin typeface="Calibri"/>
                          <a:cs typeface="Calibri"/>
                        </a:rPr>
                        <a:t>TypeScript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>
                          <a:latin typeface="Calibri"/>
                          <a:cs typeface="Calibri"/>
                        </a:rPr>
                        <a:t>Typed</a:t>
                      </a:r>
                      <a:r>
                        <a:rPr sz="18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JavaScript</a:t>
                      </a:r>
                      <a:r>
                        <a:rPr sz="1800" spc="-10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support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0579" y="6418834"/>
            <a:ext cx="5900420" cy="439420"/>
          </a:xfrm>
          <a:custGeom>
            <a:avLst/>
            <a:gdLst/>
            <a:ahLst/>
            <a:cxnLst/>
            <a:rect l="l" t="t" r="r" b="b"/>
            <a:pathLst>
              <a:path w="5900420" h="439420">
                <a:moveTo>
                  <a:pt x="5899874" y="0"/>
                </a:moveTo>
                <a:lnTo>
                  <a:pt x="2949956" y="0"/>
                </a:lnTo>
                <a:lnTo>
                  <a:pt x="0" y="0"/>
                </a:lnTo>
                <a:lnTo>
                  <a:pt x="0" y="439166"/>
                </a:lnTo>
                <a:lnTo>
                  <a:pt x="2949918" y="439166"/>
                </a:lnTo>
                <a:lnTo>
                  <a:pt x="5899874" y="439166"/>
                </a:lnTo>
                <a:lnTo>
                  <a:pt x="5899874" y="0"/>
                </a:lnTo>
                <a:close/>
              </a:path>
            </a:pathLst>
          </a:custGeom>
          <a:solidFill>
            <a:srgbClr val="E9EC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820" y="3582987"/>
          <a:ext cx="5900420" cy="32689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0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0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805">
                <a:tc>
                  <a:txBody>
                    <a:bodyPr/>
                    <a:lstStyle/>
                    <a:p>
                      <a:pPr marL="518159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Backend</a:t>
                      </a:r>
                      <a:r>
                        <a:rPr sz="1800" b="1" spc="-5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Technology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366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8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Flask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(Python)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REST</a:t>
                      </a:r>
                      <a:r>
                        <a:rPr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API</a:t>
                      </a:r>
                      <a:r>
                        <a:rPr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backend</a:t>
                      </a:r>
                      <a:r>
                        <a:rPr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framework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8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>
                          <a:latin typeface="Calibri"/>
                          <a:cs typeface="Calibri"/>
                        </a:rPr>
                        <a:t>Flask-</a:t>
                      </a:r>
                      <a:r>
                        <a:rPr sz="1800" spc="-20">
                          <a:latin typeface="Calibri"/>
                          <a:cs typeface="Calibri"/>
                        </a:rPr>
                        <a:t>CORS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>
                          <a:latin typeface="Calibri"/>
                          <a:cs typeface="Calibri"/>
                        </a:rPr>
                        <a:t>Cross-</a:t>
                      </a:r>
                      <a:r>
                        <a:rPr sz="1800">
                          <a:latin typeface="Calibri"/>
                          <a:cs typeface="Calibri"/>
                        </a:rPr>
                        <a:t>origin</a:t>
                      </a:r>
                      <a:r>
                        <a:rPr sz="18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access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1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>
                          <a:latin typeface="Calibri"/>
                          <a:cs typeface="Calibri"/>
                        </a:rPr>
                        <a:t>PyPDF2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Resume</a:t>
                      </a:r>
                      <a:r>
                        <a:rPr sz="18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text</a:t>
                      </a:r>
                      <a:r>
                        <a:rPr sz="1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extraction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8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groq</a:t>
                      </a:r>
                      <a:r>
                        <a:rPr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>
                          <a:latin typeface="Calibri"/>
                          <a:cs typeface="Calibri"/>
                        </a:rPr>
                        <a:t>SDK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AI/NLP</a:t>
                      </a:r>
                      <a:r>
                        <a:rPr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integration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8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0">
                          <a:latin typeface="Calibri"/>
                          <a:cs typeface="Calibri"/>
                        </a:rPr>
                        <a:t>python-dotenv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0">
                          <a:latin typeface="Calibri"/>
                          <a:cs typeface="Calibri"/>
                        </a:rPr>
                        <a:t>Environment</a:t>
                      </a:r>
                      <a:r>
                        <a:rPr sz="1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configuration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7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10">
                          <a:latin typeface="Calibri"/>
                          <a:cs typeface="Calibri"/>
                        </a:rPr>
                        <a:t>Werkzeug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Flask</a:t>
                      </a:r>
                      <a:r>
                        <a:rPr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core</a:t>
                      </a:r>
                      <a:r>
                        <a:rPr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utilities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6096000" y="-25"/>
            <a:ext cx="6085840" cy="766445"/>
          </a:xfrm>
          <a:custGeom>
            <a:avLst/>
            <a:gdLst/>
            <a:ahLst/>
            <a:cxnLst/>
            <a:rect l="l" t="t" r="r" b="b"/>
            <a:pathLst>
              <a:path w="6085840" h="766445">
                <a:moveTo>
                  <a:pt x="6085586" y="0"/>
                </a:moveTo>
                <a:lnTo>
                  <a:pt x="3042793" y="0"/>
                </a:lnTo>
                <a:lnTo>
                  <a:pt x="0" y="0"/>
                </a:lnTo>
                <a:lnTo>
                  <a:pt x="0" y="766216"/>
                </a:lnTo>
                <a:lnTo>
                  <a:pt x="3042793" y="766216"/>
                </a:lnTo>
                <a:lnTo>
                  <a:pt x="6085586" y="766216"/>
                </a:lnTo>
                <a:lnTo>
                  <a:pt x="6085586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091237" y="-4762"/>
          <a:ext cx="6085840" cy="2297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5810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AI/NLP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8806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groq</a:t>
                      </a:r>
                      <a:r>
                        <a:rPr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>
                          <a:latin typeface="Calibri"/>
                          <a:cs typeface="Calibri"/>
                        </a:rPr>
                        <a:t>SDK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226060">
                        <a:lnSpc>
                          <a:spcPct val="100800"/>
                        </a:lnSpc>
                        <a:spcBef>
                          <a:spcPts val="204"/>
                        </a:spcBef>
                      </a:pPr>
                      <a:r>
                        <a:rPr sz="1800" spc="-10">
                          <a:latin typeface="Calibri"/>
                          <a:cs typeface="Calibri"/>
                        </a:rPr>
                        <a:t>AI-</a:t>
                      </a:r>
                      <a:r>
                        <a:rPr sz="1800">
                          <a:latin typeface="Calibri"/>
                          <a:cs typeface="Calibri"/>
                        </a:rPr>
                        <a:t>driven</a:t>
                      </a:r>
                      <a:r>
                        <a:rPr sz="18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resume</a:t>
                      </a:r>
                      <a:r>
                        <a:rPr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scoring</a:t>
                      </a:r>
                      <a:r>
                        <a:rPr sz="1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analysis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>
                          <a:latin typeface="Calibri"/>
                          <a:cs typeface="Calibri"/>
                        </a:rPr>
                        <a:t>PyPDF2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838200">
                        <a:lnSpc>
                          <a:spcPct val="100899"/>
                        </a:lnSpc>
                        <a:spcBef>
                          <a:spcPts val="209"/>
                        </a:spcBef>
                      </a:pPr>
                      <a:r>
                        <a:rPr sz="1800" spc="-45">
                          <a:latin typeface="Calibri"/>
                          <a:cs typeface="Calibri"/>
                        </a:rPr>
                        <a:t>Text</a:t>
                      </a:r>
                      <a:r>
                        <a:rPr sz="1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extraction</a:t>
                      </a:r>
                      <a:r>
                        <a:rPr sz="1800" spc="-10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>
                          <a:latin typeface="Calibri"/>
                          <a:cs typeface="Calibri"/>
                        </a:rPr>
                        <a:t>NLP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processing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091237" y="2418778"/>
          <a:ext cx="6085840" cy="1543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pPr marL="6769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Database/Storage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880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Firebase</a:t>
                      </a:r>
                      <a:r>
                        <a:rPr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Firestore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515620">
                        <a:lnSpc>
                          <a:spcPct val="100800"/>
                        </a:lnSpc>
                        <a:spcBef>
                          <a:spcPts val="229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Cloud</a:t>
                      </a:r>
                      <a:r>
                        <a:rPr sz="18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NoSQL</a:t>
                      </a:r>
                      <a:r>
                        <a:rPr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database</a:t>
                      </a:r>
                      <a:r>
                        <a:rPr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>
                          <a:latin typeface="Calibri"/>
                          <a:cs typeface="Calibri"/>
                        </a:rPr>
                        <a:t>for </a:t>
                      </a:r>
                      <a:r>
                        <a:rPr sz="1800">
                          <a:latin typeface="Calibri"/>
                          <a:cs typeface="Calibri"/>
                        </a:rPr>
                        <a:t>resumes</a:t>
                      </a:r>
                      <a:r>
                        <a:rPr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user</a:t>
                      </a:r>
                      <a:r>
                        <a:rPr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>
                          <a:latin typeface="Calibri"/>
                          <a:cs typeface="Calibri"/>
                        </a:rPr>
                        <a:t>data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6098159" y="6489065"/>
            <a:ext cx="6071870" cy="361315"/>
          </a:xfrm>
          <a:custGeom>
            <a:avLst/>
            <a:gdLst/>
            <a:ahLst/>
            <a:cxnLst/>
            <a:rect l="l" t="t" r="r" b="b"/>
            <a:pathLst>
              <a:path w="6071870" h="361315">
                <a:moveTo>
                  <a:pt x="6071362" y="0"/>
                </a:moveTo>
                <a:lnTo>
                  <a:pt x="3029077" y="0"/>
                </a:lnTo>
                <a:lnTo>
                  <a:pt x="0" y="0"/>
                </a:lnTo>
                <a:lnTo>
                  <a:pt x="0" y="361315"/>
                </a:lnTo>
                <a:lnTo>
                  <a:pt x="3029077" y="361315"/>
                </a:lnTo>
                <a:lnTo>
                  <a:pt x="6071362" y="361315"/>
                </a:lnTo>
                <a:lnTo>
                  <a:pt x="6071362" y="0"/>
                </a:lnTo>
                <a:close/>
              </a:path>
            </a:pathLst>
          </a:custGeom>
          <a:solidFill>
            <a:srgbClr val="E9EC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093396" y="4037012"/>
          <a:ext cx="6071235" cy="2806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680">
                <a:tc>
                  <a:txBody>
                    <a:bodyPr/>
                    <a:lstStyle/>
                    <a:p>
                      <a:pPr marL="2743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APIs</a:t>
                      </a:r>
                      <a:r>
                        <a:rPr sz="1800" b="1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800" b="1" spc="-6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Development</a:t>
                      </a:r>
                      <a:r>
                        <a:rPr sz="1800" b="1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Tools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8742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Flask</a:t>
                      </a:r>
                      <a:r>
                        <a:rPr sz="1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REST</a:t>
                      </a:r>
                      <a:r>
                        <a:rPr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>
                          <a:latin typeface="Calibri"/>
                          <a:cs typeface="Calibri"/>
                        </a:rPr>
                        <a:t>API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Backend</a:t>
                      </a:r>
                      <a:r>
                        <a:rPr sz="18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communication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Firebase</a:t>
                      </a:r>
                      <a:r>
                        <a:rPr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>
                          <a:latin typeface="Calibri"/>
                          <a:cs typeface="Calibri"/>
                        </a:rPr>
                        <a:t>API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 marR="678815">
                        <a:lnSpc>
                          <a:spcPct val="100800"/>
                        </a:lnSpc>
                        <a:spcBef>
                          <a:spcPts val="245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Authentication</a:t>
                      </a:r>
                      <a:r>
                        <a:rPr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>
                          <a:latin typeface="Calibri"/>
                          <a:cs typeface="Calibri"/>
                        </a:rPr>
                        <a:t>data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handling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VS</a:t>
                      </a:r>
                      <a:r>
                        <a:rPr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>
                          <a:latin typeface="Calibri"/>
                          <a:cs typeface="Calibri"/>
                        </a:rPr>
                        <a:t>Code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>
                          <a:latin typeface="Calibri"/>
                          <a:cs typeface="Calibri"/>
                        </a:rPr>
                        <a:t>Development</a:t>
                      </a:r>
                      <a:r>
                        <a:rPr sz="1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environment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ESLint</a:t>
                      </a:r>
                      <a:r>
                        <a:rPr sz="18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TypeScript</a:t>
                      </a:r>
                      <a:r>
                        <a:rPr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ESLint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Code</a:t>
                      </a:r>
                      <a:r>
                        <a:rPr sz="18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quality</a:t>
                      </a:r>
                      <a:r>
                        <a:rPr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tools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PostCSS</a:t>
                      </a:r>
                      <a:r>
                        <a:rPr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Autoprefixer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>
                          <a:latin typeface="Calibri"/>
                          <a:cs typeface="Calibri"/>
                        </a:rPr>
                        <a:t>CSS</a:t>
                      </a:r>
                      <a:r>
                        <a:rPr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optimization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25">
                          <a:latin typeface="Calibri"/>
                          <a:cs typeface="Calibri"/>
                        </a:rPr>
                        <a:t>Git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10">
                          <a:latin typeface="Calibri"/>
                          <a:cs typeface="Calibri"/>
                        </a:rPr>
                        <a:t>Version</a:t>
                      </a:r>
                      <a:r>
                        <a:rPr sz="18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control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Deployment</a:t>
            </a:r>
            <a:r>
              <a:rPr spc="15"/>
              <a:t> </a:t>
            </a:r>
            <a:r>
              <a:rPr spc="-10"/>
              <a:t>Strategy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6586" y="1755838"/>
            <a:ext cx="7261859" cy="394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0E172A"/>
                </a:solidFill>
                <a:latin typeface="Calibri"/>
                <a:cs typeface="Calibri"/>
              </a:rPr>
              <a:t>Cloud </a:t>
            </a:r>
            <a:r>
              <a:rPr sz="1800" b="1" spc="-10">
                <a:solidFill>
                  <a:srgbClr val="0E172A"/>
                </a:solidFill>
                <a:latin typeface="Calibri"/>
                <a:cs typeface="Calibri"/>
              </a:rPr>
              <a:t>Hosting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Django</a:t>
            </a:r>
            <a:r>
              <a:rPr sz="1400" spc="-2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APIs</a:t>
            </a:r>
            <a:r>
              <a:rPr sz="1400" spc="-5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1400" spc="-2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NLP</a:t>
            </a:r>
            <a:r>
              <a:rPr sz="1400" spc="-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models</a:t>
            </a:r>
            <a:r>
              <a:rPr sz="1400" spc="-5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are</a:t>
            </a:r>
            <a:r>
              <a:rPr sz="1400" spc="-5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hosted</a:t>
            </a:r>
            <a:r>
              <a:rPr sz="1400" spc="-2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on</a:t>
            </a:r>
            <a:r>
              <a:rPr sz="1400" spc="-2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platforms</a:t>
            </a:r>
            <a:r>
              <a:rPr sz="1400" spc="-5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like</a:t>
            </a:r>
            <a:r>
              <a:rPr sz="1400" spc="2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20">
                <a:solidFill>
                  <a:srgbClr val="465469"/>
                </a:solidFill>
                <a:latin typeface="Calibri"/>
                <a:cs typeface="Calibri"/>
              </a:rPr>
              <a:t>AWS</a:t>
            </a:r>
            <a:r>
              <a:rPr sz="1400" spc="-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for</a:t>
            </a:r>
            <a:r>
              <a:rPr sz="1400" spc="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high</a:t>
            </a:r>
            <a:r>
              <a:rPr sz="1400" spc="-2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availability</a:t>
            </a:r>
            <a:r>
              <a:rPr sz="1400" spc="1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1400" spc="-2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performance.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45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>
                <a:solidFill>
                  <a:srgbClr val="0E172A"/>
                </a:solidFill>
                <a:latin typeface="Calibri"/>
                <a:cs typeface="Calibri"/>
              </a:rPr>
              <a:t>Frontend</a:t>
            </a:r>
            <a:r>
              <a:rPr sz="1800" b="1" spc="-3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0E172A"/>
                </a:solidFill>
                <a:latin typeface="Calibri"/>
                <a:cs typeface="Calibri"/>
              </a:rPr>
              <a:t>Deployment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React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applications</a:t>
            </a:r>
            <a:r>
              <a:rPr sz="1400" spc="-6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are</a:t>
            </a:r>
            <a:r>
              <a:rPr sz="1400" spc="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deployed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on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services</a:t>
            </a:r>
            <a:r>
              <a:rPr sz="1400" spc="-6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like</a:t>
            </a:r>
            <a:r>
              <a:rPr sz="1400" spc="-6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Netlify,</a:t>
            </a:r>
            <a:r>
              <a:rPr sz="1400" spc="-7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ensuring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fast</a:t>
            </a:r>
            <a:r>
              <a:rPr sz="1400" spc="-5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content</a:t>
            </a:r>
            <a:r>
              <a:rPr sz="1400" spc="-5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delivery.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5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>
                <a:solidFill>
                  <a:srgbClr val="0E172A"/>
                </a:solidFill>
                <a:latin typeface="Calibri"/>
                <a:cs typeface="Calibri"/>
              </a:rPr>
              <a:t>Database</a:t>
            </a:r>
            <a:r>
              <a:rPr sz="1800" b="1" spc="-4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0E172A"/>
                </a:solidFill>
                <a:latin typeface="Calibri"/>
                <a:cs typeface="Calibri"/>
              </a:rPr>
              <a:t>Management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Automated</a:t>
            </a:r>
            <a:r>
              <a:rPr sz="1400" spc="-7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backups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1400" spc="-4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replication</a:t>
            </a:r>
            <a:r>
              <a:rPr sz="1400" spc="-4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20">
                <a:solidFill>
                  <a:srgbClr val="465469"/>
                </a:solidFill>
                <a:latin typeface="Calibri"/>
                <a:cs typeface="Calibri"/>
              </a:rPr>
              <a:t>for</a:t>
            </a:r>
            <a:r>
              <a:rPr sz="1400" spc="-7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MySQL/PostgreSQL</a:t>
            </a:r>
            <a:r>
              <a:rPr sz="1400" spc="-4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databases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enhance</a:t>
            </a:r>
            <a:r>
              <a:rPr sz="1400" spc="-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data</a:t>
            </a:r>
            <a:r>
              <a:rPr sz="1400" spc="-5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resilience.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5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>
                <a:solidFill>
                  <a:srgbClr val="0E172A"/>
                </a:solidFill>
                <a:latin typeface="Calibri"/>
                <a:cs typeface="Calibri"/>
              </a:rPr>
              <a:t>Security</a:t>
            </a:r>
            <a:r>
              <a:rPr sz="1800" b="1" spc="-3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0E172A"/>
                </a:solidFill>
                <a:latin typeface="Calibri"/>
                <a:cs typeface="Calibri"/>
              </a:rPr>
              <a:t>Measures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APIs</a:t>
            </a:r>
            <a:r>
              <a:rPr sz="1400" spc="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are</a:t>
            </a:r>
            <a:r>
              <a:rPr sz="1400" spc="-7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secured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with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authentication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protocols,</a:t>
            </a:r>
            <a:r>
              <a:rPr sz="1400" spc="-1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Docker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is</a:t>
            </a:r>
            <a:r>
              <a:rPr sz="1400" spc="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used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for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 consistent</a:t>
            </a:r>
            <a:r>
              <a:rPr sz="1400" spc="1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environments.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Ongoing</a:t>
            </a:r>
            <a:r>
              <a:rPr spc="50"/>
              <a:t> </a:t>
            </a:r>
            <a:r>
              <a:t>Maintenance</a:t>
            </a:r>
            <a:r>
              <a:rPr spc="35"/>
              <a:t> </a:t>
            </a:r>
            <a:r>
              <a:t>&amp;</a:t>
            </a:r>
            <a:r>
              <a:rPr spc="30"/>
              <a:t> </a:t>
            </a:r>
            <a:r>
              <a:rPr spc="-10"/>
              <a:t>Support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5205" y="1590357"/>
            <a:ext cx="12573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0">
                <a:solidFill>
                  <a:srgbClr val="E88B6E"/>
                </a:solidFill>
                <a:latin typeface="Calibri"/>
                <a:cs typeface="Calibri"/>
              </a:rPr>
              <a:t>•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2705" y="1501457"/>
            <a:ext cx="13100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0E172A"/>
                </a:solidFill>
                <a:latin typeface="Calibri"/>
                <a:cs typeface="Calibri"/>
              </a:rPr>
              <a:t>Data</a:t>
            </a:r>
            <a:r>
              <a:rPr sz="1800" b="1" spc="-7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0E172A"/>
                </a:solidFill>
                <a:latin typeface="Calibri"/>
                <a:cs typeface="Calibri"/>
              </a:rPr>
              <a:t>Updates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2705" y="2082863"/>
            <a:ext cx="72059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Regular</a:t>
            </a:r>
            <a:r>
              <a:rPr sz="1400" spc="-1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updates</a:t>
            </a:r>
            <a:r>
              <a:rPr sz="1400" spc="-7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1400" spc="-4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training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data</a:t>
            </a:r>
            <a:r>
              <a:rPr sz="1400" spc="-4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NLP</a:t>
            </a:r>
            <a:r>
              <a:rPr sz="1400" spc="-2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models</a:t>
            </a:r>
            <a:r>
              <a:rPr sz="1400" spc="-6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improve</a:t>
            </a:r>
            <a:r>
              <a:rPr sz="1400" spc="-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accuracy</a:t>
            </a:r>
            <a:r>
              <a:rPr sz="1400" spc="-1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adapt</a:t>
            </a:r>
            <a:r>
              <a:rPr sz="1400" spc="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1400" spc="-4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job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market</a:t>
            </a:r>
            <a:r>
              <a:rPr sz="1400" spc="-6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trends.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5205" y="2671127"/>
            <a:ext cx="12573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0">
                <a:solidFill>
                  <a:srgbClr val="E88B6E"/>
                </a:solidFill>
                <a:latin typeface="Calibri"/>
                <a:cs typeface="Calibri"/>
              </a:rPr>
              <a:t>•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2705" y="2582227"/>
            <a:ext cx="23660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>
                <a:solidFill>
                  <a:srgbClr val="0E172A"/>
                </a:solidFill>
                <a:latin typeface="Calibri"/>
                <a:cs typeface="Calibri"/>
              </a:rPr>
              <a:t>Performance</a:t>
            </a:r>
            <a:r>
              <a:rPr sz="1800" b="1" spc="-2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0E172A"/>
                </a:solidFill>
                <a:latin typeface="Calibri"/>
                <a:cs typeface="Calibri"/>
              </a:rPr>
              <a:t>Monitoring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2705" y="3163887"/>
            <a:ext cx="677481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Continuous</a:t>
            </a:r>
            <a:r>
              <a:rPr sz="1400" spc="1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monitoring</a:t>
            </a:r>
            <a:r>
              <a:rPr sz="1400" spc="-2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of</a:t>
            </a:r>
            <a:r>
              <a:rPr sz="1400" spc="-2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server and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API</a:t>
            </a:r>
            <a:r>
              <a:rPr sz="1400" spc="-1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performance</a:t>
            </a:r>
            <a:r>
              <a:rPr sz="1400" spc="-6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helps</a:t>
            </a:r>
            <a:r>
              <a:rPr sz="1400" spc="1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identify</a:t>
            </a:r>
            <a:r>
              <a:rPr sz="1400" spc="-7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1400" spc="-2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resolve</a:t>
            </a:r>
            <a:r>
              <a:rPr sz="1400" spc="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bottlenecks.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5205" y="3752151"/>
            <a:ext cx="12573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0">
                <a:solidFill>
                  <a:srgbClr val="E88B6E"/>
                </a:solidFill>
                <a:latin typeface="Calibri"/>
                <a:cs typeface="Calibri"/>
              </a:rPr>
              <a:t>•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2705" y="3663251"/>
            <a:ext cx="9004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0E172A"/>
                </a:solidFill>
                <a:latin typeface="Calibri"/>
                <a:cs typeface="Calibri"/>
              </a:rPr>
              <a:t>Bug</a:t>
            </a:r>
            <a:r>
              <a:rPr sz="1800" b="1" spc="-3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0E172A"/>
                </a:solidFill>
                <a:latin typeface="Calibri"/>
                <a:cs typeface="Calibri"/>
              </a:rPr>
              <a:t>Fixes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2705" y="4245355"/>
            <a:ext cx="683895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Prompt</a:t>
            </a:r>
            <a:r>
              <a:rPr sz="1400" spc="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resolution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of</a:t>
            </a:r>
            <a:r>
              <a:rPr sz="1400" spc="-2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bugs</a:t>
            </a:r>
            <a:r>
              <a:rPr sz="1400" spc="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iterative</a:t>
            </a:r>
            <a:r>
              <a:rPr sz="1400" spc="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development</a:t>
            </a:r>
            <a:r>
              <a:rPr sz="1400" spc="1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of</a:t>
            </a:r>
            <a:r>
              <a:rPr sz="1400" spc="-2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new</a:t>
            </a:r>
            <a:r>
              <a:rPr sz="1400" spc="-7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features</a:t>
            </a:r>
            <a:r>
              <a:rPr sz="1400" spc="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based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on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user</a:t>
            </a:r>
            <a:r>
              <a:rPr sz="1400" spc="-8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feedback.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5205" y="4833620"/>
            <a:ext cx="125095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0">
                <a:solidFill>
                  <a:srgbClr val="E88B6E"/>
                </a:solidFill>
                <a:latin typeface="Calibri"/>
                <a:cs typeface="Calibri"/>
              </a:rPr>
              <a:t>•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2705" y="4744148"/>
            <a:ext cx="15779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0E172A"/>
                </a:solidFill>
                <a:latin typeface="Calibri"/>
                <a:cs typeface="Calibri"/>
              </a:rPr>
              <a:t>Security</a:t>
            </a:r>
            <a:r>
              <a:rPr sz="1800" b="1" spc="-1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0E172A"/>
                </a:solidFill>
                <a:latin typeface="Calibri"/>
                <a:cs typeface="Calibri"/>
              </a:rPr>
              <a:t>Patches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22705" y="5325808"/>
            <a:ext cx="7147559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Regular</a:t>
            </a:r>
            <a:r>
              <a:rPr sz="1400" spc="-2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application</a:t>
            </a:r>
            <a:r>
              <a:rPr sz="1400" spc="-4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of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security</a:t>
            </a:r>
            <a:r>
              <a:rPr sz="1400" spc="-2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updates</a:t>
            </a:r>
            <a:r>
              <a:rPr sz="1400" spc="-6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ensures</a:t>
            </a:r>
            <a:r>
              <a:rPr sz="1400" spc="-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data</a:t>
            </a:r>
            <a:r>
              <a:rPr sz="1400" spc="2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privacy</a:t>
            </a:r>
            <a:r>
              <a:rPr sz="1400" spc="-1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1400" spc="-4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protection</a:t>
            </a:r>
            <a:r>
              <a:rPr sz="1400" spc="-4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against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vulnerabilities.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Key</a:t>
            </a:r>
            <a:r>
              <a:rPr spc="-70"/>
              <a:t> </a:t>
            </a:r>
            <a:r>
              <a:rPr spc="-10"/>
              <a:t>Features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5205" y="1896681"/>
            <a:ext cx="1513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>
                <a:solidFill>
                  <a:srgbClr val="0E172A"/>
                </a:solidFill>
                <a:latin typeface="Calibri"/>
                <a:cs typeface="Calibri"/>
              </a:rPr>
              <a:t>Resume</a:t>
            </a:r>
            <a:r>
              <a:rPr sz="1800" b="1" spc="-4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0E172A"/>
                </a:solidFill>
                <a:latin typeface="Calibri"/>
                <a:cs typeface="Calibri"/>
              </a:rPr>
              <a:t>Parsing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5205" y="2492534"/>
            <a:ext cx="2792730" cy="1056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60900"/>
              </a:lnSpc>
              <a:spcBef>
                <a:spcPts val="100"/>
              </a:spcBef>
            </a:pP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Automated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extraction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of</a:t>
            </a:r>
            <a:r>
              <a:rPr sz="1400" spc="-2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candidate information</a:t>
            </a:r>
            <a:r>
              <a:rPr sz="1400" spc="-4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enhances</a:t>
            </a:r>
            <a:r>
              <a:rPr sz="1400" spc="-6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efficiency</a:t>
            </a:r>
            <a:r>
              <a:rPr sz="1400" spc="-1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in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25">
                <a:solidFill>
                  <a:srgbClr val="465469"/>
                </a:solidFill>
                <a:latin typeface="Calibri"/>
                <a:cs typeface="Calibri"/>
              </a:rPr>
              <a:t>the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screening</a:t>
            </a:r>
            <a:r>
              <a:rPr sz="1400" spc="-7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process.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19175" y="4057650"/>
            <a:ext cx="1009650" cy="76200"/>
          </a:xfrm>
          <a:custGeom>
            <a:avLst/>
            <a:gdLst/>
            <a:ahLst/>
            <a:cxnLst/>
            <a:rect l="l" t="t" r="r" b="b"/>
            <a:pathLst>
              <a:path w="1009650" h="76200">
                <a:moveTo>
                  <a:pt x="1009650" y="0"/>
                </a:moveTo>
                <a:lnTo>
                  <a:pt x="0" y="0"/>
                </a:lnTo>
                <a:lnTo>
                  <a:pt x="0" y="76200"/>
                </a:lnTo>
                <a:lnTo>
                  <a:pt x="1009650" y="76200"/>
                </a:lnTo>
                <a:lnTo>
                  <a:pt x="1009650" y="0"/>
                </a:lnTo>
                <a:close/>
              </a:path>
            </a:pathLst>
          </a:custGeom>
          <a:solidFill>
            <a:srgbClr val="E88B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29709" y="1896681"/>
            <a:ext cx="12211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0E172A"/>
                </a:solidFill>
                <a:latin typeface="Calibri"/>
                <a:cs typeface="Calibri"/>
              </a:rPr>
              <a:t>NLP</a:t>
            </a:r>
            <a:r>
              <a:rPr sz="1800" b="1" spc="-5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0E172A"/>
                </a:solidFill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29709" y="2492534"/>
            <a:ext cx="2858770" cy="1056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60900"/>
              </a:lnSpc>
              <a:spcBef>
                <a:spcPts val="100"/>
              </a:spcBef>
            </a:pP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Deep</a:t>
            </a:r>
            <a:r>
              <a:rPr sz="1400" spc="-2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understanding</a:t>
            </a:r>
            <a:r>
              <a:rPr sz="1400" spc="-1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of</a:t>
            </a:r>
            <a:r>
              <a:rPr sz="1400" spc="-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resume</a:t>
            </a:r>
            <a:r>
              <a:rPr sz="1400" spc="-5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content ensures</a:t>
            </a:r>
            <a:r>
              <a:rPr sz="1400" spc="-6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accurate</a:t>
            </a:r>
            <a:r>
              <a:rPr sz="1400" spc="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matching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with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25">
                <a:solidFill>
                  <a:srgbClr val="465469"/>
                </a:solidFill>
                <a:latin typeface="Calibri"/>
                <a:cs typeface="Calibri"/>
              </a:rPr>
              <a:t>job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descriptions.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33900" y="4057650"/>
            <a:ext cx="1019175" cy="76200"/>
          </a:xfrm>
          <a:custGeom>
            <a:avLst/>
            <a:gdLst/>
            <a:ahLst/>
            <a:cxnLst/>
            <a:rect l="l" t="t" r="r" b="b"/>
            <a:pathLst>
              <a:path w="1019175" h="76200">
                <a:moveTo>
                  <a:pt x="1019175" y="0"/>
                </a:moveTo>
                <a:lnTo>
                  <a:pt x="0" y="0"/>
                </a:lnTo>
                <a:lnTo>
                  <a:pt x="0" y="76200"/>
                </a:lnTo>
                <a:lnTo>
                  <a:pt x="1019175" y="76200"/>
                </a:lnTo>
                <a:lnTo>
                  <a:pt x="1019175" y="0"/>
                </a:lnTo>
                <a:close/>
              </a:path>
            </a:pathLst>
          </a:custGeom>
          <a:solidFill>
            <a:srgbClr val="8A5C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054720" y="1896681"/>
            <a:ext cx="174243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0E172A"/>
                </a:solidFill>
                <a:latin typeface="Calibri"/>
                <a:cs typeface="Calibri"/>
              </a:rPr>
              <a:t>Ranking</a:t>
            </a:r>
            <a:r>
              <a:rPr sz="1800" b="1" spc="-2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0E172A"/>
                </a:solidFill>
                <a:latin typeface="Calibri"/>
                <a:cs typeface="Calibri"/>
              </a:rPr>
              <a:t>&amp;</a:t>
            </a:r>
            <a:r>
              <a:rPr sz="1800" b="1" spc="10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0E172A"/>
                </a:solidFill>
                <a:latin typeface="Calibri"/>
                <a:cs typeface="Calibri"/>
              </a:rPr>
              <a:t>Scoring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54720" y="2663888"/>
            <a:ext cx="2995930" cy="712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61000"/>
              </a:lnSpc>
              <a:spcBef>
                <a:spcPts val="95"/>
              </a:spcBef>
            </a:pP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Objective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evaluation</a:t>
            </a:r>
            <a:r>
              <a:rPr sz="1400" spc="1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of</a:t>
            </a:r>
            <a:r>
              <a:rPr sz="1400" spc="2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candidates</a:t>
            </a:r>
            <a:r>
              <a:rPr sz="1400" spc="-2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20">
                <a:solidFill>
                  <a:srgbClr val="465469"/>
                </a:solidFill>
                <a:latin typeface="Calibri"/>
                <a:cs typeface="Calibri"/>
              </a:rPr>
              <a:t>based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on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 relevance</a:t>
            </a:r>
            <a:r>
              <a:rPr sz="1400" spc="-4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improves</a:t>
            </a:r>
            <a:r>
              <a:rPr sz="1400" spc="-4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hiring</a:t>
            </a:r>
            <a:r>
              <a:rPr sz="1400" spc="-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decisions.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58150" y="4057650"/>
            <a:ext cx="1019175" cy="76200"/>
          </a:xfrm>
          <a:custGeom>
            <a:avLst/>
            <a:gdLst/>
            <a:ahLst/>
            <a:cxnLst/>
            <a:rect l="l" t="t" r="r" b="b"/>
            <a:pathLst>
              <a:path w="1019175" h="76200">
                <a:moveTo>
                  <a:pt x="1019175" y="0"/>
                </a:moveTo>
                <a:lnTo>
                  <a:pt x="0" y="0"/>
                </a:lnTo>
                <a:lnTo>
                  <a:pt x="0" y="76200"/>
                </a:lnTo>
                <a:lnTo>
                  <a:pt x="1019175" y="76200"/>
                </a:lnTo>
                <a:lnTo>
                  <a:pt x="1019175" y="0"/>
                </a:lnTo>
                <a:close/>
              </a:path>
            </a:pathLst>
          </a:custGeom>
          <a:solidFill>
            <a:srgbClr val="05B6D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/>
              <a:t>Transformative</a:t>
            </a:r>
            <a:r>
              <a:rPr spc="-90"/>
              <a:t> </a:t>
            </a:r>
            <a:r>
              <a:rPr spc="-10"/>
              <a:t>Benefits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7300" y="1781175"/>
            <a:ext cx="3019425" cy="19526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46505" y="3888740"/>
            <a:ext cx="191833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b="1">
                <a:solidFill>
                  <a:srgbClr val="0E172A"/>
                </a:solidFill>
                <a:latin typeface="Calibri"/>
                <a:cs typeface="Calibri"/>
              </a:rPr>
              <a:t>Faster</a:t>
            </a:r>
            <a:r>
              <a:rPr sz="2150" b="1" spc="-5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2150" b="1" spc="-10">
                <a:solidFill>
                  <a:srgbClr val="0E172A"/>
                </a:solidFill>
                <a:latin typeface="Calibri"/>
                <a:cs typeface="Calibri"/>
              </a:rPr>
              <a:t>Screening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6505" y="4456493"/>
            <a:ext cx="2760980" cy="9798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35300"/>
              </a:lnSpc>
              <a:spcBef>
                <a:spcPts val="55"/>
              </a:spcBef>
            </a:pP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Reduces</a:t>
            </a:r>
            <a:r>
              <a:rPr sz="1550" spc="7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screening</a:t>
            </a:r>
            <a:r>
              <a:rPr sz="1550" spc="10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time</a:t>
            </a:r>
            <a:r>
              <a:rPr sz="1550" spc="14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by</a:t>
            </a:r>
            <a:r>
              <a:rPr sz="1550" spc="4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up</a:t>
            </a:r>
            <a:r>
              <a:rPr sz="1550" spc="8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 spc="-25">
                <a:solidFill>
                  <a:srgbClr val="465469"/>
                </a:solidFill>
                <a:latin typeface="Calibri"/>
                <a:cs typeface="Calibri"/>
              </a:rPr>
              <a:t>to </a:t>
            </a: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80%,</a:t>
            </a:r>
            <a:r>
              <a:rPr sz="1550" spc="9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accelerating</a:t>
            </a:r>
            <a:r>
              <a:rPr sz="1550" spc="1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the</a:t>
            </a:r>
            <a:r>
              <a:rPr sz="1550" spc="7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hiring</a:t>
            </a:r>
            <a:r>
              <a:rPr sz="1550" spc="1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 spc="-20">
                <a:solidFill>
                  <a:srgbClr val="465469"/>
                </a:solidFill>
                <a:latin typeface="Calibri"/>
                <a:cs typeface="Calibri"/>
              </a:rPr>
              <a:t>cycle </a:t>
            </a:r>
            <a:r>
              <a:rPr sz="1550" spc="-10">
                <a:solidFill>
                  <a:srgbClr val="465469"/>
                </a:solidFill>
                <a:latin typeface="Calibri"/>
                <a:cs typeface="Calibri"/>
              </a:rPr>
              <a:t>significantly.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81525" y="1781175"/>
            <a:ext cx="3028950" cy="195262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576445" y="3888740"/>
            <a:ext cx="1734820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b="1">
                <a:solidFill>
                  <a:srgbClr val="0E172A"/>
                </a:solidFill>
                <a:latin typeface="Calibri"/>
                <a:cs typeface="Calibri"/>
              </a:rPr>
              <a:t>Bias</a:t>
            </a:r>
            <a:r>
              <a:rPr sz="2150" b="1" spc="9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2150" b="1" spc="-10">
                <a:solidFill>
                  <a:srgbClr val="0E172A"/>
                </a:solidFill>
                <a:latin typeface="Calibri"/>
                <a:cs typeface="Calibri"/>
              </a:rPr>
              <a:t>Reduction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6445" y="4457453"/>
            <a:ext cx="2555875" cy="9804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35300"/>
              </a:lnSpc>
              <a:spcBef>
                <a:spcPts val="60"/>
              </a:spcBef>
            </a:pP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Minimizes</a:t>
            </a:r>
            <a:r>
              <a:rPr sz="1550" spc="5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human</a:t>
            </a:r>
            <a:r>
              <a:rPr sz="1550" spc="6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bias</a:t>
            </a:r>
            <a:r>
              <a:rPr sz="1550" spc="14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in</a:t>
            </a:r>
            <a:r>
              <a:rPr sz="1550" spc="6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 spc="-10">
                <a:solidFill>
                  <a:srgbClr val="465469"/>
                </a:solidFill>
                <a:latin typeface="Calibri"/>
                <a:cs typeface="Calibri"/>
              </a:rPr>
              <a:t>initial </a:t>
            </a: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screening,</a:t>
            </a:r>
            <a:r>
              <a:rPr sz="1550" spc="15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promoting</a:t>
            </a:r>
            <a:r>
              <a:rPr sz="1550" spc="9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fair</a:t>
            </a:r>
            <a:r>
              <a:rPr sz="1550" spc="15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 spc="-25">
                <a:solidFill>
                  <a:srgbClr val="465469"/>
                </a:solidFill>
                <a:latin typeface="Calibri"/>
                <a:cs typeface="Calibri"/>
              </a:rPr>
              <a:t>and </a:t>
            </a: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equitable</a:t>
            </a:r>
            <a:r>
              <a:rPr sz="1550" spc="10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hiring</a:t>
            </a:r>
            <a:r>
              <a:rPr sz="1550" spc="16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 spc="-10">
                <a:solidFill>
                  <a:srgbClr val="465469"/>
                </a:solidFill>
                <a:latin typeface="Calibri"/>
                <a:cs typeface="Calibri"/>
              </a:rPr>
              <a:t>practices.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15275" y="1781175"/>
            <a:ext cx="3019425" cy="195262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906384" y="3888740"/>
            <a:ext cx="2075814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b="1">
                <a:solidFill>
                  <a:srgbClr val="0E172A"/>
                </a:solidFill>
                <a:latin typeface="Calibri"/>
                <a:cs typeface="Calibri"/>
              </a:rPr>
              <a:t>Insightful</a:t>
            </a:r>
            <a:r>
              <a:rPr sz="2150" b="1" spc="105">
                <a:solidFill>
                  <a:srgbClr val="0E172A"/>
                </a:solidFill>
                <a:latin typeface="Calibri"/>
                <a:cs typeface="Calibri"/>
              </a:rPr>
              <a:t> </a:t>
            </a:r>
            <a:r>
              <a:rPr sz="2150" b="1" spc="-10">
                <a:solidFill>
                  <a:srgbClr val="0E172A"/>
                </a:solidFill>
                <a:latin typeface="Calibri"/>
                <a:cs typeface="Calibri"/>
              </a:rPr>
              <a:t>Reports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06384" y="4460421"/>
            <a:ext cx="2765425" cy="97853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35200"/>
              </a:lnSpc>
              <a:spcBef>
                <a:spcPts val="50"/>
              </a:spcBef>
            </a:pP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Provides</a:t>
            </a:r>
            <a:r>
              <a:rPr sz="1550" spc="12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data-driven</a:t>
            </a:r>
            <a:r>
              <a:rPr sz="1550" spc="14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insights</a:t>
            </a:r>
            <a:r>
              <a:rPr sz="1550" spc="12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 spc="-20">
                <a:solidFill>
                  <a:srgbClr val="465469"/>
                </a:solidFill>
                <a:latin typeface="Calibri"/>
                <a:cs typeface="Calibri"/>
              </a:rPr>
              <a:t>into </a:t>
            </a: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candidate</a:t>
            </a:r>
            <a:r>
              <a:rPr sz="1550" spc="16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pools,</a:t>
            </a:r>
            <a:r>
              <a:rPr sz="1550" spc="10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 spc="-10">
                <a:solidFill>
                  <a:srgbClr val="465469"/>
                </a:solidFill>
                <a:latin typeface="Calibri"/>
                <a:cs typeface="Calibri"/>
              </a:rPr>
              <a:t>enhancing </a:t>
            </a:r>
            <a:r>
              <a:rPr sz="1550">
                <a:solidFill>
                  <a:srgbClr val="465469"/>
                </a:solidFill>
                <a:latin typeface="Calibri"/>
                <a:cs typeface="Calibri"/>
              </a:rPr>
              <a:t>recruitment</a:t>
            </a:r>
            <a:r>
              <a:rPr sz="1550" spc="14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550" spc="-10">
                <a:solidFill>
                  <a:srgbClr val="465469"/>
                </a:solidFill>
                <a:latin typeface="Calibri"/>
                <a:cs typeface="Calibri"/>
              </a:rPr>
              <a:t>effectiveness.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Future</a:t>
            </a:r>
            <a:r>
              <a:rPr spc="5"/>
              <a:t> </a:t>
            </a:r>
            <a:r>
              <a:rPr spc="-10"/>
              <a:t>Enhancements</a:t>
            </a:r>
          </a:p>
        </p:txBody>
      </p:sp>
      <p:sp>
        <p:nvSpPr>
          <p:cNvPr id="3" name="object 3"/>
          <p:cNvSpPr/>
          <p:nvPr/>
        </p:nvSpPr>
        <p:spPr>
          <a:xfrm>
            <a:off x="1019175" y="2219325"/>
            <a:ext cx="400050" cy="409575"/>
          </a:xfrm>
          <a:custGeom>
            <a:avLst/>
            <a:gdLst/>
            <a:ahLst/>
            <a:cxnLst/>
            <a:rect l="l" t="t" r="r" b="b"/>
            <a:pathLst>
              <a:path w="400050" h="409575">
                <a:moveTo>
                  <a:pt x="200025" y="0"/>
                </a:moveTo>
                <a:lnTo>
                  <a:pt x="154163" y="5408"/>
                </a:lnTo>
                <a:lnTo>
                  <a:pt x="112061" y="20814"/>
                </a:lnTo>
                <a:lnTo>
                  <a:pt x="74922" y="44986"/>
                </a:lnTo>
                <a:lnTo>
                  <a:pt x="43945" y="76694"/>
                </a:lnTo>
                <a:lnTo>
                  <a:pt x="20331" y="114707"/>
                </a:lnTo>
                <a:lnTo>
                  <a:pt x="5283" y="157793"/>
                </a:lnTo>
                <a:lnTo>
                  <a:pt x="0" y="204724"/>
                </a:lnTo>
                <a:lnTo>
                  <a:pt x="5283" y="251701"/>
                </a:lnTo>
                <a:lnTo>
                  <a:pt x="20331" y="294821"/>
                </a:lnTo>
                <a:lnTo>
                  <a:pt x="43945" y="332856"/>
                </a:lnTo>
                <a:lnTo>
                  <a:pt x="74922" y="364578"/>
                </a:lnTo>
                <a:lnTo>
                  <a:pt x="112061" y="388757"/>
                </a:lnTo>
                <a:lnTo>
                  <a:pt x="154163" y="404165"/>
                </a:lnTo>
                <a:lnTo>
                  <a:pt x="200025" y="409575"/>
                </a:lnTo>
                <a:lnTo>
                  <a:pt x="245894" y="404165"/>
                </a:lnTo>
                <a:lnTo>
                  <a:pt x="287999" y="388757"/>
                </a:lnTo>
                <a:lnTo>
                  <a:pt x="325138" y="364578"/>
                </a:lnTo>
                <a:lnTo>
                  <a:pt x="356112" y="332856"/>
                </a:lnTo>
                <a:lnTo>
                  <a:pt x="379722" y="294821"/>
                </a:lnTo>
                <a:lnTo>
                  <a:pt x="394768" y="251701"/>
                </a:lnTo>
                <a:lnTo>
                  <a:pt x="400050" y="204724"/>
                </a:lnTo>
                <a:lnTo>
                  <a:pt x="394768" y="157793"/>
                </a:lnTo>
                <a:lnTo>
                  <a:pt x="379722" y="114707"/>
                </a:lnTo>
                <a:lnTo>
                  <a:pt x="356112" y="76694"/>
                </a:lnTo>
                <a:lnTo>
                  <a:pt x="325138" y="44986"/>
                </a:lnTo>
                <a:lnTo>
                  <a:pt x="287999" y="20814"/>
                </a:lnTo>
                <a:lnTo>
                  <a:pt x="245894" y="5408"/>
                </a:lnTo>
                <a:lnTo>
                  <a:pt x="200025" y="0"/>
                </a:lnTo>
                <a:close/>
              </a:path>
            </a:pathLst>
          </a:custGeom>
          <a:solidFill>
            <a:srgbClr val="05B6D3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19175" y="3295650"/>
            <a:ext cx="400050" cy="409575"/>
          </a:xfrm>
          <a:custGeom>
            <a:avLst/>
            <a:gdLst/>
            <a:ahLst/>
            <a:cxnLst/>
            <a:rect l="l" t="t" r="r" b="b"/>
            <a:pathLst>
              <a:path w="400050" h="409575">
                <a:moveTo>
                  <a:pt x="200025" y="0"/>
                </a:moveTo>
                <a:lnTo>
                  <a:pt x="154163" y="5408"/>
                </a:lnTo>
                <a:lnTo>
                  <a:pt x="112061" y="20814"/>
                </a:lnTo>
                <a:lnTo>
                  <a:pt x="74922" y="44986"/>
                </a:lnTo>
                <a:lnTo>
                  <a:pt x="43945" y="76694"/>
                </a:lnTo>
                <a:lnTo>
                  <a:pt x="20331" y="114707"/>
                </a:lnTo>
                <a:lnTo>
                  <a:pt x="5283" y="157793"/>
                </a:lnTo>
                <a:lnTo>
                  <a:pt x="0" y="204724"/>
                </a:lnTo>
                <a:lnTo>
                  <a:pt x="5283" y="251701"/>
                </a:lnTo>
                <a:lnTo>
                  <a:pt x="20331" y="294821"/>
                </a:lnTo>
                <a:lnTo>
                  <a:pt x="43945" y="332856"/>
                </a:lnTo>
                <a:lnTo>
                  <a:pt x="74922" y="364578"/>
                </a:lnTo>
                <a:lnTo>
                  <a:pt x="112061" y="388757"/>
                </a:lnTo>
                <a:lnTo>
                  <a:pt x="154163" y="404165"/>
                </a:lnTo>
                <a:lnTo>
                  <a:pt x="200025" y="409575"/>
                </a:lnTo>
                <a:lnTo>
                  <a:pt x="245894" y="404165"/>
                </a:lnTo>
                <a:lnTo>
                  <a:pt x="287999" y="388757"/>
                </a:lnTo>
                <a:lnTo>
                  <a:pt x="325138" y="364578"/>
                </a:lnTo>
                <a:lnTo>
                  <a:pt x="356112" y="332856"/>
                </a:lnTo>
                <a:lnTo>
                  <a:pt x="379722" y="294821"/>
                </a:lnTo>
                <a:lnTo>
                  <a:pt x="394768" y="251701"/>
                </a:lnTo>
                <a:lnTo>
                  <a:pt x="400050" y="204724"/>
                </a:lnTo>
                <a:lnTo>
                  <a:pt x="394768" y="157793"/>
                </a:lnTo>
                <a:lnTo>
                  <a:pt x="379722" y="114707"/>
                </a:lnTo>
                <a:lnTo>
                  <a:pt x="356112" y="76694"/>
                </a:lnTo>
                <a:lnTo>
                  <a:pt x="325138" y="44986"/>
                </a:lnTo>
                <a:lnTo>
                  <a:pt x="287999" y="20814"/>
                </a:lnTo>
                <a:lnTo>
                  <a:pt x="245894" y="5408"/>
                </a:lnTo>
                <a:lnTo>
                  <a:pt x="200025" y="0"/>
                </a:lnTo>
                <a:close/>
              </a:path>
            </a:pathLst>
          </a:custGeom>
          <a:solidFill>
            <a:srgbClr val="E88B6E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9175" y="4371975"/>
            <a:ext cx="400050" cy="409575"/>
          </a:xfrm>
          <a:custGeom>
            <a:avLst/>
            <a:gdLst/>
            <a:ahLst/>
            <a:cxnLst/>
            <a:rect l="l" t="t" r="r" b="b"/>
            <a:pathLst>
              <a:path w="400050" h="409575">
                <a:moveTo>
                  <a:pt x="200025" y="0"/>
                </a:moveTo>
                <a:lnTo>
                  <a:pt x="154163" y="5408"/>
                </a:lnTo>
                <a:lnTo>
                  <a:pt x="112061" y="20814"/>
                </a:lnTo>
                <a:lnTo>
                  <a:pt x="74922" y="44986"/>
                </a:lnTo>
                <a:lnTo>
                  <a:pt x="43945" y="76694"/>
                </a:lnTo>
                <a:lnTo>
                  <a:pt x="20331" y="114707"/>
                </a:lnTo>
                <a:lnTo>
                  <a:pt x="5283" y="157793"/>
                </a:lnTo>
                <a:lnTo>
                  <a:pt x="0" y="204724"/>
                </a:lnTo>
                <a:lnTo>
                  <a:pt x="5283" y="251701"/>
                </a:lnTo>
                <a:lnTo>
                  <a:pt x="20331" y="294821"/>
                </a:lnTo>
                <a:lnTo>
                  <a:pt x="43945" y="332856"/>
                </a:lnTo>
                <a:lnTo>
                  <a:pt x="74922" y="364578"/>
                </a:lnTo>
                <a:lnTo>
                  <a:pt x="112061" y="388757"/>
                </a:lnTo>
                <a:lnTo>
                  <a:pt x="154163" y="404165"/>
                </a:lnTo>
                <a:lnTo>
                  <a:pt x="200025" y="409575"/>
                </a:lnTo>
                <a:lnTo>
                  <a:pt x="245894" y="404165"/>
                </a:lnTo>
                <a:lnTo>
                  <a:pt x="287999" y="388757"/>
                </a:lnTo>
                <a:lnTo>
                  <a:pt x="325138" y="364578"/>
                </a:lnTo>
                <a:lnTo>
                  <a:pt x="356112" y="332856"/>
                </a:lnTo>
                <a:lnTo>
                  <a:pt x="379722" y="294821"/>
                </a:lnTo>
                <a:lnTo>
                  <a:pt x="394768" y="251701"/>
                </a:lnTo>
                <a:lnTo>
                  <a:pt x="400050" y="204724"/>
                </a:lnTo>
                <a:lnTo>
                  <a:pt x="394768" y="157793"/>
                </a:lnTo>
                <a:lnTo>
                  <a:pt x="379722" y="114707"/>
                </a:lnTo>
                <a:lnTo>
                  <a:pt x="356112" y="76694"/>
                </a:lnTo>
                <a:lnTo>
                  <a:pt x="325138" y="44986"/>
                </a:lnTo>
                <a:lnTo>
                  <a:pt x="287999" y="20814"/>
                </a:lnTo>
                <a:lnTo>
                  <a:pt x="245894" y="5408"/>
                </a:lnTo>
                <a:lnTo>
                  <a:pt x="200025" y="0"/>
                </a:lnTo>
                <a:close/>
              </a:path>
            </a:pathLst>
          </a:custGeom>
          <a:solidFill>
            <a:srgbClr val="8A5CF6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19175" y="5457825"/>
            <a:ext cx="400050" cy="400050"/>
          </a:xfrm>
          <a:custGeom>
            <a:avLst/>
            <a:gdLst/>
            <a:ahLst/>
            <a:cxnLst/>
            <a:rect l="l" t="t" r="r" b="b"/>
            <a:pathLst>
              <a:path w="400050" h="400050">
                <a:moveTo>
                  <a:pt x="200025" y="0"/>
                </a:moveTo>
                <a:lnTo>
                  <a:pt x="154163" y="5281"/>
                </a:lnTo>
                <a:lnTo>
                  <a:pt x="112061" y="20327"/>
                </a:lnTo>
                <a:lnTo>
                  <a:pt x="74922" y="43937"/>
                </a:lnTo>
                <a:lnTo>
                  <a:pt x="43945" y="74911"/>
                </a:lnTo>
                <a:lnTo>
                  <a:pt x="20331" y="112050"/>
                </a:lnTo>
                <a:lnTo>
                  <a:pt x="5283" y="154155"/>
                </a:lnTo>
                <a:lnTo>
                  <a:pt x="0" y="200025"/>
                </a:lnTo>
                <a:lnTo>
                  <a:pt x="5283" y="245886"/>
                </a:lnTo>
                <a:lnTo>
                  <a:pt x="20331" y="287988"/>
                </a:lnTo>
                <a:lnTo>
                  <a:pt x="43945" y="325127"/>
                </a:lnTo>
                <a:lnTo>
                  <a:pt x="74922" y="356104"/>
                </a:lnTo>
                <a:lnTo>
                  <a:pt x="112061" y="379718"/>
                </a:lnTo>
                <a:lnTo>
                  <a:pt x="154163" y="394766"/>
                </a:lnTo>
                <a:lnTo>
                  <a:pt x="200025" y="400050"/>
                </a:lnTo>
                <a:lnTo>
                  <a:pt x="245894" y="394766"/>
                </a:lnTo>
                <a:lnTo>
                  <a:pt x="287999" y="379718"/>
                </a:lnTo>
                <a:lnTo>
                  <a:pt x="325138" y="356104"/>
                </a:lnTo>
                <a:lnTo>
                  <a:pt x="356112" y="325127"/>
                </a:lnTo>
                <a:lnTo>
                  <a:pt x="379722" y="287988"/>
                </a:lnTo>
                <a:lnTo>
                  <a:pt x="394768" y="245886"/>
                </a:lnTo>
                <a:lnTo>
                  <a:pt x="400050" y="200025"/>
                </a:lnTo>
                <a:lnTo>
                  <a:pt x="394768" y="154155"/>
                </a:lnTo>
                <a:lnTo>
                  <a:pt x="379722" y="112050"/>
                </a:lnTo>
                <a:lnTo>
                  <a:pt x="356112" y="74911"/>
                </a:lnTo>
                <a:lnTo>
                  <a:pt x="325138" y="43937"/>
                </a:lnTo>
                <a:lnTo>
                  <a:pt x="287999" y="20327"/>
                </a:lnTo>
                <a:lnTo>
                  <a:pt x="245894" y="5281"/>
                </a:lnTo>
                <a:lnTo>
                  <a:pt x="200025" y="0"/>
                </a:lnTo>
                <a:close/>
              </a:path>
            </a:pathLst>
          </a:custGeom>
          <a:solidFill>
            <a:srgbClr val="05B6D3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15186" y="1859851"/>
            <a:ext cx="7310120" cy="3974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>
                <a:solidFill>
                  <a:srgbClr val="05B6D3"/>
                </a:solidFill>
                <a:latin typeface="Calibri"/>
                <a:cs typeface="Calibri"/>
              </a:rPr>
              <a:t>CANDIDATE</a:t>
            </a:r>
            <a:r>
              <a:rPr sz="1800" b="1" spc="-20">
                <a:solidFill>
                  <a:srgbClr val="05B6D3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05B6D3"/>
                </a:solidFill>
                <a:latin typeface="Calibri"/>
                <a:cs typeface="Calibri"/>
              </a:rPr>
              <a:t>FEEDBACK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sz="1400" spc="-20">
                <a:solidFill>
                  <a:srgbClr val="465469"/>
                </a:solidFill>
                <a:latin typeface="Calibri"/>
                <a:cs typeface="Calibri"/>
              </a:rPr>
              <a:t>Integrate</a:t>
            </a:r>
            <a:r>
              <a:rPr sz="1400" spc="-5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features</a:t>
            </a:r>
            <a:r>
              <a:rPr sz="1400" spc="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for</a:t>
            </a:r>
            <a:r>
              <a:rPr sz="1400" spc="1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automated communication</a:t>
            </a:r>
            <a:r>
              <a:rPr sz="1400" spc="-1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 interview</a:t>
            </a:r>
            <a:r>
              <a:rPr sz="1400" spc="-6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scheduling</a:t>
            </a:r>
            <a:r>
              <a:rPr sz="1400" spc="-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with</a:t>
            </a:r>
            <a:r>
              <a:rPr sz="1400" spc="-1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candidates.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45">
                <a:solidFill>
                  <a:srgbClr val="E88B6E"/>
                </a:solidFill>
                <a:latin typeface="Calibri"/>
                <a:cs typeface="Calibri"/>
              </a:rPr>
              <a:t>ATS </a:t>
            </a:r>
            <a:r>
              <a:rPr sz="1800" b="1" spc="-10">
                <a:solidFill>
                  <a:srgbClr val="E88B6E"/>
                </a:solidFill>
                <a:latin typeface="Calibri"/>
                <a:cs typeface="Calibri"/>
              </a:rPr>
              <a:t>INTEGRATION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Seamless</a:t>
            </a:r>
            <a:r>
              <a:rPr sz="1400" spc="-6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integration</a:t>
            </a:r>
            <a:r>
              <a:rPr sz="1400" spc="-3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with</a:t>
            </a:r>
            <a:r>
              <a:rPr sz="1400" spc="-2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Applicant</a:t>
            </a:r>
            <a:r>
              <a:rPr sz="1400" spc="1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Tracking</a:t>
            </a:r>
            <a:r>
              <a:rPr sz="1400" spc="-2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20">
                <a:solidFill>
                  <a:srgbClr val="465469"/>
                </a:solidFill>
                <a:latin typeface="Calibri"/>
                <a:cs typeface="Calibri"/>
              </a:rPr>
              <a:t>Systems</a:t>
            </a:r>
            <a:r>
              <a:rPr sz="1400" spc="-5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for a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unified</a:t>
            </a:r>
            <a:r>
              <a:rPr sz="1400" spc="-2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recruitment</a:t>
            </a:r>
            <a:r>
              <a:rPr sz="1400" spc="-5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workflow.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>
                <a:solidFill>
                  <a:srgbClr val="8A5CF6"/>
                </a:solidFill>
                <a:latin typeface="Calibri"/>
                <a:cs typeface="Calibri"/>
              </a:rPr>
              <a:t>RESUME</a:t>
            </a:r>
            <a:r>
              <a:rPr sz="1800" b="1" spc="-50">
                <a:solidFill>
                  <a:srgbClr val="8A5CF6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8A5CF6"/>
                </a:solidFill>
                <a:latin typeface="Calibri"/>
                <a:cs typeface="Calibri"/>
              </a:rPr>
              <a:t>CLUSTERING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Develop</a:t>
            </a:r>
            <a:r>
              <a:rPr sz="1400" spc="-4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capabilities</a:t>
            </a:r>
            <a:r>
              <a:rPr sz="1400" spc="-5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for</a:t>
            </a:r>
            <a:r>
              <a:rPr sz="1400" spc="-7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bulk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profiling</a:t>
            </a:r>
            <a:r>
              <a:rPr sz="1400" spc="-2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1400" spc="-2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grouping</a:t>
            </a:r>
            <a:r>
              <a:rPr sz="1400" spc="-1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of</a:t>
            </a:r>
            <a:r>
              <a:rPr sz="1400" spc="-8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similar</a:t>
            </a:r>
            <a:r>
              <a:rPr sz="1400" spc="-7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resumes</a:t>
            </a:r>
            <a:r>
              <a:rPr sz="1400" spc="1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20">
                <a:solidFill>
                  <a:srgbClr val="465469"/>
                </a:solidFill>
                <a:latin typeface="Calibri"/>
                <a:cs typeface="Calibri"/>
              </a:rPr>
              <a:t>for</a:t>
            </a:r>
            <a:r>
              <a:rPr sz="1400" spc="-7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better talent</a:t>
            </a:r>
            <a:r>
              <a:rPr sz="1400" spc="2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management.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>
                <a:solidFill>
                  <a:srgbClr val="05B6D3"/>
                </a:solidFill>
                <a:latin typeface="Calibri"/>
                <a:cs typeface="Calibri"/>
              </a:rPr>
              <a:t>SENTIMENT</a:t>
            </a:r>
            <a:r>
              <a:rPr sz="1800" b="1" spc="-45">
                <a:solidFill>
                  <a:srgbClr val="05B6D3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05B6D3"/>
                </a:solidFill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Explore</a:t>
            </a:r>
            <a:r>
              <a:rPr sz="1400" spc="-7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advanced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NLP</a:t>
            </a:r>
            <a:r>
              <a:rPr sz="1400" spc="-2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for</a:t>
            </a:r>
            <a:r>
              <a:rPr sz="1400" spc="-1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deeper</a:t>
            </a:r>
            <a:r>
              <a:rPr sz="1400" spc="-1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insights</a:t>
            </a:r>
            <a:r>
              <a:rPr sz="1400" spc="-6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into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candidate</a:t>
            </a:r>
            <a:r>
              <a:rPr sz="1400" spc="-7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communication</a:t>
            </a:r>
            <a:r>
              <a:rPr sz="1400" spc="-35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465469"/>
                </a:solidFill>
                <a:latin typeface="Calibri"/>
                <a:cs typeface="Calibri"/>
              </a:rPr>
              <a:t>styles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1400" spc="-4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465469"/>
                </a:solidFill>
                <a:latin typeface="Calibri"/>
                <a:cs typeface="Calibri"/>
              </a:rPr>
              <a:t>traits.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5620" y="1839849"/>
            <a:ext cx="6081395" cy="541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/>
              <a:t>Transforming</a:t>
            </a:r>
            <a:r>
              <a:rPr spc="20"/>
              <a:t> </a:t>
            </a:r>
            <a:r>
              <a:t>Recruitment</a:t>
            </a:r>
            <a:r>
              <a:rPr spc="-70"/>
              <a:t> </a:t>
            </a:r>
            <a:r>
              <a:t>with</a:t>
            </a:r>
            <a:r>
              <a:rPr spc="35"/>
              <a:t> </a:t>
            </a:r>
            <a:r>
              <a:rPr spc="-25"/>
              <a:t>AI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430" marR="5080" algn="ctr">
              <a:lnSpc>
                <a:spcPct val="150200"/>
              </a:lnSpc>
              <a:spcBef>
                <a:spcPts val="95"/>
              </a:spcBef>
            </a:pPr>
            <a:r>
              <a:t>The</a:t>
            </a:r>
            <a:r>
              <a:rPr spc="-60"/>
              <a:t> </a:t>
            </a:r>
            <a:r>
              <a:t>AI-</a:t>
            </a:r>
            <a:r>
              <a:rPr spc="-10"/>
              <a:t>Powered</a:t>
            </a:r>
            <a:r>
              <a:rPr spc="-35"/>
              <a:t> </a:t>
            </a:r>
            <a:r>
              <a:rPr spc="-10"/>
              <a:t>Resume</a:t>
            </a:r>
            <a:r>
              <a:rPr spc="-60"/>
              <a:t> </a:t>
            </a:r>
            <a:r>
              <a:t>Screening</a:t>
            </a:r>
            <a:r>
              <a:rPr spc="-75"/>
              <a:t> </a:t>
            </a:r>
            <a:r>
              <a:rPr spc="-20"/>
              <a:t>System</a:t>
            </a:r>
            <a:r>
              <a:rPr spc="-65"/>
              <a:t> </a:t>
            </a:r>
            <a:r>
              <a:t>not</a:t>
            </a:r>
            <a:r>
              <a:rPr spc="-30"/>
              <a:t> </a:t>
            </a:r>
            <a:r>
              <a:t>only</a:t>
            </a:r>
            <a:r>
              <a:rPr spc="-35"/>
              <a:t> </a:t>
            </a:r>
            <a:r>
              <a:rPr spc="-10"/>
              <a:t>streamlines</a:t>
            </a:r>
            <a:r>
              <a:rPr spc="-60"/>
              <a:t> </a:t>
            </a:r>
            <a:r>
              <a:t>the</a:t>
            </a:r>
            <a:r>
              <a:rPr spc="15"/>
              <a:t> </a:t>
            </a:r>
            <a:r>
              <a:rPr spc="-10"/>
              <a:t>recruitment</a:t>
            </a:r>
            <a:r>
              <a:rPr spc="-30"/>
              <a:t> </a:t>
            </a:r>
            <a:r>
              <a:rPr spc="-10"/>
              <a:t>process </a:t>
            </a:r>
            <a:r>
              <a:t>but</a:t>
            </a:r>
            <a:r>
              <a:rPr spc="-30"/>
              <a:t> </a:t>
            </a:r>
            <a:r>
              <a:t>also</a:t>
            </a:r>
            <a:r>
              <a:rPr spc="-40"/>
              <a:t> </a:t>
            </a:r>
            <a:r>
              <a:t>enhances</a:t>
            </a:r>
            <a:r>
              <a:rPr spc="10"/>
              <a:t> </a:t>
            </a:r>
            <a:r>
              <a:rPr spc="-10"/>
              <a:t>fairness</a:t>
            </a:r>
            <a:r>
              <a:rPr spc="-60"/>
              <a:t> </a:t>
            </a:r>
            <a:r>
              <a:t>and</a:t>
            </a:r>
            <a:r>
              <a:rPr spc="-35"/>
              <a:t> </a:t>
            </a:r>
            <a:r>
              <a:rPr spc="-25"/>
              <a:t>efficiency.</a:t>
            </a:r>
            <a:r>
              <a:rPr spc="-80"/>
              <a:t> </a:t>
            </a:r>
            <a:r>
              <a:t>By</a:t>
            </a:r>
            <a:r>
              <a:rPr spc="-35"/>
              <a:t> </a:t>
            </a:r>
            <a:r>
              <a:rPr spc="-10"/>
              <a:t>leveraging</a:t>
            </a:r>
            <a:r>
              <a:rPr spc="-5"/>
              <a:t> </a:t>
            </a:r>
            <a:r>
              <a:t>advanced</a:t>
            </a:r>
            <a:r>
              <a:rPr spc="-35"/>
              <a:t> </a:t>
            </a:r>
            <a:r>
              <a:rPr spc="-10"/>
              <a:t>technologies, </a:t>
            </a:r>
            <a:r>
              <a:rPr spc="-20"/>
              <a:t>organizations</a:t>
            </a:r>
            <a:r>
              <a:rPr spc="-70"/>
              <a:t> </a:t>
            </a:r>
            <a:r>
              <a:t>can</a:t>
            </a:r>
            <a:r>
              <a:rPr spc="-35"/>
              <a:t> </a:t>
            </a:r>
            <a:r>
              <a:t>make</a:t>
            </a:r>
            <a:r>
              <a:rPr spc="-65"/>
              <a:t> </a:t>
            </a:r>
            <a:r>
              <a:t>informed</a:t>
            </a:r>
            <a:r>
              <a:rPr spc="-40"/>
              <a:t> </a:t>
            </a:r>
            <a:r>
              <a:t>hiring</a:t>
            </a:r>
            <a:r>
              <a:rPr spc="-10"/>
              <a:t> decisions,</a:t>
            </a:r>
            <a:r>
              <a:rPr spc="-80"/>
              <a:t> </a:t>
            </a:r>
            <a:r>
              <a:t>ultimately</a:t>
            </a:r>
            <a:r>
              <a:rPr spc="-45"/>
              <a:t> </a:t>
            </a:r>
            <a:r>
              <a:t>leading</a:t>
            </a:r>
            <a:r>
              <a:rPr spc="-10"/>
              <a:t> </a:t>
            </a:r>
            <a:r>
              <a:t>to</a:t>
            </a:r>
            <a:r>
              <a:rPr spc="-50"/>
              <a:t> </a:t>
            </a:r>
            <a:r>
              <a:t>a</a:t>
            </a:r>
            <a:r>
              <a:rPr spc="-15"/>
              <a:t> </a:t>
            </a:r>
            <a:r>
              <a:rPr spc="-10"/>
              <a:t>more</a:t>
            </a:r>
            <a:r>
              <a:rPr spc="-65"/>
              <a:t> </a:t>
            </a:r>
            <a:r>
              <a:rPr spc="-10"/>
              <a:t>diverse </a:t>
            </a:r>
            <a:r>
              <a:t>and</a:t>
            </a:r>
            <a:r>
              <a:rPr spc="-45"/>
              <a:t> </a:t>
            </a:r>
            <a:r>
              <a:t>capable</a:t>
            </a:r>
            <a:r>
              <a:rPr spc="-60"/>
              <a:t> </a:t>
            </a:r>
            <a:r>
              <a:rPr spc="-10"/>
              <a:t>workforce.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-1"/>
            <a:ext cx="68961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Automated Resume Screening System</vt:lpstr>
      <vt:lpstr>Challenges in Traditional Screening</vt:lpstr>
      <vt:lpstr>Core Approach &amp; Innovation</vt:lpstr>
      <vt:lpstr>System Requirements</vt:lpstr>
      <vt:lpstr>PowerPoint Presentation</vt:lpstr>
      <vt:lpstr>Deployment Strategy</vt:lpstr>
      <vt:lpstr>Ongoing Maintenance &amp; Support</vt:lpstr>
      <vt:lpstr>Key Features</vt:lpstr>
      <vt:lpstr>Transformative Benefits</vt:lpstr>
      <vt:lpstr>Future Enhancements</vt:lpstr>
      <vt:lpstr>Transforming Recruitment with AI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2025-10-09T21:43:15Z</dcterms:created>
  <dcterms:modified xsi:type="dcterms:W3CDTF">2025-10-10T05:45:26Z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2025-10-09T00:00:00Z</vt:filetime>
  </property>
  <property fmtid="{D5CDD505-2E9C-101B-9397-08002B2CF9AE}" pid="3" name="LastSaved">
    <vt:filetime>2025-10-09T00:00:00Z</vt:filetime>
  </property>
</Properties>
</file>